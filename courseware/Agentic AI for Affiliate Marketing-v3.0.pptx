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456" r:id="rId207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Expected profit</c:v>
                </c:pt>
              </c:strCache>
            </c:strRef>
          </c:tx>
          <c:spPr>
            <a:solidFill>
              <a:srgbClr val="3A7D7B"/>
            </a:solidFill>
            <a:ln>
              <a:solidFill>
                <a:srgbClr val="3A7D7B"/>
              </a:solidFill>
            </a:ln>
          </c:spPr>
          <c:cat>
            <c:strRef>
              <c:f>Sheet1!$A$2:$A$5</c:f>
              <c:strCache>
                <c:ptCount val="4"/>
                <c:pt idx="0">
                  <c:v>CPS 8%</c:v>
                </c:pt>
                <c:pt idx="1">
                  <c:v>CPS 12%</c:v>
                </c:pt>
                <c:pt idx="2">
                  <c:v>CPA $18</c:v>
                </c:pt>
                <c:pt idx="3">
                  <c:v>CPL $7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1800</c:v>
                </c:pt>
                <c:pt idx="1">
                  <c:v>2688</c:v>
                </c:pt>
                <c:pt idx="2">
                  <c:v>2160</c:v>
                </c:pt>
                <c:pt idx="3">
                  <c:v>980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Conversion %</c:v>
                </c:pt>
              </c:strCache>
            </c:strRef>
          </c:tx>
          <c:spPr>
            <a:solidFill>
              <a:srgbClr val="3A7D7B"/>
            </a:solidFill>
            <a:ln>
              <a:solidFill>
                <a:srgbClr val="3A7D7B"/>
              </a:solidFill>
            </a:ln>
          </c:spPr>
          <c:cat>
            <c:strRef>
              <c:f>Sheet1!$A$2:$A$6</c:f>
              <c:strCache>
                <c:ptCount val="5"/>
                <c:pt idx="0">
                  <c:v>SEO</c:v>
                </c:pt>
                <c:pt idx="1">
                  <c:v>Email</c:v>
                </c:pt>
                <c:pt idx="2">
                  <c:v>Social</c:v>
                </c:pt>
                <c:pt idx="3">
                  <c:v>Video</c:v>
                </c:pt>
                <c:pt idx="4">
                  <c:v>Paid search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4.8</c:v>
                </c:pt>
                <c:pt idx="1">
                  <c:v>6.2</c:v>
                </c:pt>
                <c:pt idx="2">
                  <c:v>2.1</c:v>
                </c:pt>
                <c:pt idx="3">
                  <c:v>3.4</c:v>
                </c:pt>
                <c:pt idx="4">
                  <c:v>3.9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Offer A</c:v>
                </c:pt>
              </c:strCache>
            </c:strRef>
          </c:tx>
          <c:spPr>
            <a:solidFill>
              <a:srgbClr val="3A7D7B"/>
            </a:solidFill>
            <a:ln>
              <a:solidFill>
                <a:srgbClr val="3A7D7B"/>
              </a:solidFill>
            </a:ln>
          </c:spPr>
          <c:cat>
            <c:strRef>
              <c:f>Sheet1!$A$2:$A$6</c:f>
              <c:strCache>
                <c:ptCount val="5"/>
                <c:pt idx="0">
                  <c:v>Audience fit</c:v>
                </c:pt>
                <c:pt idx="1">
                  <c:v>Proof</c:v>
                </c:pt>
                <c:pt idx="2">
                  <c:v>Economics</c:v>
                </c:pt>
                <c:pt idx="3">
                  <c:v>Policy</c:v>
                </c:pt>
                <c:pt idx="4">
                  <c:v>Operational fit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88</c:v>
                </c:pt>
                <c:pt idx="1">
                  <c:v>92</c:v>
                </c:pt>
                <c:pt idx="2">
                  <c:v>74</c:v>
                </c:pt>
                <c:pt idx="3">
                  <c:v>95</c:v>
                </c:pt>
                <c:pt idx="4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Offer B</c:v>
                </c:pt>
              </c:strCache>
            </c:strRef>
          </c:tx>
          <c:spPr>
            <a:solidFill>
              <a:srgbClr val="B5483A"/>
            </a:solidFill>
            <a:ln>
              <a:solidFill>
                <a:srgbClr val="B5483A"/>
              </a:solidFill>
            </a:ln>
          </c:spPr>
          <c:cat>
            <c:strRef>
              <c:f>Sheet1!$A$2:$A$6</c:f>
              <c:strCache>
                <c:ptCount val="5"/>
                <c:pt idx="0">
                  <c:v>Audience fit</c:v>
                </c:pt>
                <c:pt idx="1">
                  <c:v>Proof</c:v>
                </c:pt>
                <c:pt idx="2">
                  <c:v>Economics</c:v>
                </c:pt>
                <c:pt idx="3">
                  <c:v>Policy</c:v>
                </c:pt>
                <c:pt idx="4">
                  <c:v>Operational fit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76</c:v>
                </c:pt>
                <c:pt idx="1">
                  <c:v>70</c:v>
                </c:pt>
                <c:pt idx="2">
                  <c:v>91</c:v>
                </c:pt>
                <c:pt idx="3">
                  <c:v>68</c:v>
                </c:pt>
                <c:pt idx="4">
                  <c:v>86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Confidence score</c:v>
                </c:pt>
              </c:strCache>
            </c:strRef>
          </c:tx>
          <c:spPr>
            <a:solidFill>
              <a:srgbClr val="3A7D7B"/>
            </a:solidFill>
            <a:ln>
              <a:solidFill>
                <a:srgbClr val="3A7D7B"/>
              </a:solidFill>
            </a:ln>
          </c:spPr>
          <c:cat>
            <c:strRef>
              <c:f>Sheet1!$A$2:$A$5</c:f>
              <c:strCache>
                <c:ptCount val="4"/>
                <c:pt idx="0">
                  <c:v>One post</c:v>
                </c:pt>
                <c:pt idx="1">
                  <c:v>Three sources</c:v>
                </c:pt>
                <c:pt idx="2">
                  <c:v>Platform data</c:v>
                </c:pt>
                <c:pt idx="3">
                  <c:v>Controlled test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</c:v>
                </c:pt>
                <c:pt idx="1">
                  <c:v>55</c:v>
                </c:pt>
                <c:pt idx="2">
                  <c:v>78</c:v>
                </c:pt>
                <c:pt idx="3">
                  <c:v>92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People</c:v>
                </c:pt>
              </c:strCache>
            </c:strRef>
          </c:tx>
          <c:spPr>
            <a:solidFill>
              <a:srgbClr val="3A7D7B"/>
            </a:solidFill>
            <a:ln>
              <a:solidFill>
                <a:srgbClr val="3A7D7B"/>
              </a:solidFill>
            </a:ln>
          </c:spPr>
          <c:cat>
            <c:strRef>
              <c:f>Sheet1!$A$2:$A$5</c:f>
              <c:strCache>
                <c:ptCount val="4"/>
                <c:pt idx="0">
                  <c:v>Impressions</c:v>
                </c:pt>
                <c:pt idx="1">
                  <c:v>Visits</c:v>
                </c:pt>
                <c:pt idx="2">
                  <c:v>Clicks</c:v>
                </c:pt>
                <c:pt idx="3">
                  <c:v>Orders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120000</c:v>
                </c:pt>
                <c:pt idx="1">
                  <c:v>18000</c:v>
                </c:pt>
                <c:pt idx="2">
                  <c:v>4200</c:v>
                </c:pt>
                <c:pt idx="3">
                  <c:v>168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Fit</c:v>
                </c:pt>
              </c:strCache>
            </c:strRef>
          </c:tx>
          <c:spPr>
            <a:solidFill>
              <a:srgbClr val="3A7D7B"/>
            </a:solidFill>
            <a:ln>
              <a:solidFill>
                <a:srgbClr val="3A7D7B"/>
              </a:solidFill>
            </a:ln>
          </c:spPr>
          <c:cat>
            <c:strRef>
              <c:f>Sheet1!$A$2:$A$5</c:f>
              <c:strCache>
                <c:ptCount val="4"/>
                <c:pt idx="0">
                  <c:v>Creator A</c:v>
                </c:pt>
                <c:pt idx="1">
                  <c:v>Publisher B</c:v>
                </c:pt>
                <c:pt idx="2">
                  <c:v>Community C</c:v>
                </c:pt>
                <c:pt idx="3">
                  <c:v>Reviewer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84</c:v>
                </c:pt>
                <c:pt idx="1">
                  <c:v>76</c:v>
                </c:pt>
                <c:pt idx="2">
                  <c:v>91</c:v>
                </c:pt>
                <c:pt idx="3">
                  <c:v>69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Target share %</c:v>
                </c:pt>
              </c:strCache>
            </c:strRef>
          </c:tx>
          <c:spPr>
            <a:solidFill>
              <a:srgbClr val="3A7D7B"/>
            </a:solidFill>
            <a:ln>
              <a:solidFill>
                <a:srgbClr val="3A7D7B"/>
              </a:solidFill>
            </a:ln>
          </c:spPr>
          <c:cat>
            <c:strRef>
              <c:f>Sheet1!$A$2:$A$5</c:f>
              <c:strCache>
                <c:ptCount val="4"/>
                <c:pt idx="0">
                  <c:v>Reach</c:v>
                </c:pt>
                <c:pt idx="1">
                  <c:v>Authority</c:v>
                </c:pt>
                <c:pt idx="2">
                  <c:v>Conversion</c:v>
                </c:pt>
                <c:pt idx="3">
                  <c:v>Retention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</c:v>
                </c:pt>
                <c:pt idx="1">
                  <c:v>25</c:v>
                </c:pt>
                <c:pt idx="2">
                  <c:v>30</c:v>
                </c:pt>
                <c:pt idx="3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Current share %</c:v>
                </c:pt>
              </c:strCache>
            </c:strRef>
          </c:tx>
          <c:spPr>
            <a:solidFill>
              <a:srgbClr val="B5483A"/>
            </a:solidFill>
            <a:ln>
              <a:solidFill>
                <a:srgbClr val="B5483A"/>
              </a:solidFill>
            </a:ln>
          </c:spPr>
          <c:cat>
            <c:strRef>
              <c:f>Sheet1!$A$2:$A$5</c:f>
              <c:strCache>
                <c:ptCount val="4"/>
                <c:pt idx="0">
                  <c:v>Reach</c:v>
                </c:pt>
                <c:pt idx="1">
                  <c:v>Authority</c:v>
                </c:pt>
                <c:pt idx="2">
                  <c:v>Conversion</c:v>
                </c:pt>
                <c:pt idx="3">
                  <c:v>Retention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42</c:v>
                </c:pt>
                <c:pt idx="1">
                  <c:v>18</c:v>
                </c:pt>
                <c:pt idx="2">
                  <c:v>31</c:v>
                </c:pt>
                <c:pt idx="3">
                  <c:v>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revenue %</c:v>
                </c:pt>
              </c:strCache>
            </c:strRef>
          </c:tx>
          <c:spPr>
            <a:solidFill>
              <a:srgbClr val="3A7D7B"/>
            </a:solidFill>
            <a:ln>
              <a:solidFill>
                <a:srgbClr val="3A7D7B"/>
              </a:solidFill>
            </a:ln>
          </c:spPr>
          <c:cat>
            <c:strRef>
              <c:f>Sheet1!$A$2:$A$5</c:f>
              <c:strCache>
                <c:ptCount val="4"/>
                <c:pt idx="0">
                  <c:v>Top 1</c:v>
                </c:pt>
                <c:pt idx="1">
                  <c:v>Top 3</c:v>
                </c:pt>
                <c:pt idx="2">
                  <c:v>Top 5</c:v>
                </c:pt>
                <c:pt idx="3">
                  <c:v>All partners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36</c:v>
                </c:pt>
                <c:pt idx="1">
                  <c:v>70</c:v>
                </c:pt>
                <c:pt idx="2">
                  <c:v>84</c:v>
                </c:pt>
                <c:pt idx="3">
                  <c:v>100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Within target %</c:v>
                </c:pt>
              </c:strCache>
            </c:strRef>
          </c:tx>
          <c:spPr>
            <a:solidFill>
              <a:srgbClr val="3A7D7B"/>
            </a:solidFill>
            <a:ln>
              <a:solidFill>
                <a:srgbClr val="3A7D7B"/>
              </a:solidFill>
            </a:ln>
          </c:spPr>
          <c:cat>
            <c:strRef>
              <c:f>Sheet1!$A$2:$A$4</c:f>
              <c:strCache>
                <c:ptCount val="3"/>
                <c:pt idx="0">
                  <c:v>Strategic</c:v>
                </c:pt>
                <c:pt idx="1">
                  <c:v>Growth</c:v>
                </c:pt>
                <c:pt idx="2">
                  <c:v>Standard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</c:v>
                </c:pt>
                <c:pt idx="1">
                  <c:v>86</c:v>
                </c:pt>
                <c:pt idx="2">
                  <c:v>79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</c:v>
                </c:pt>
              </c:strCache>
            </c:strRef>
          </c:tx>
          <c:spPr>
            <a:solidFill>
              <a:srgbClr val="3A7D7B"/>
            </a:solidFill>
            <a:ln>
              <a:solidFill>
                <a:srgbClr val="3A7D7B"/>
              </a:solidFill>
            </a:ln>
          </c:spPr>
          <c:cat>
            <c:strRef>
              <c:f>Sheet1!$A$2:$A$5</c:f>
              <c:strCache>
                <c:ptCount val="4"/>
                <c:pt idx="0">
                  <c:v>Clicks</c:v>
                </c:pt>
                <c:pt idx="1">
                  <c:v>Checkout</c:v>
                </c:pt>
                <c:pt idx="2">
                  <c:v>Approved</c:v>
                </c:pt>
                <c:pt idx="3">
                  <c:v>Repeat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4200</c:v>
                </c:pt>
                <c:pt idx="1">
                  <c:v>260</c:v>
                </c:pt>
                <c:pt idx="2">
                  <c:v>168</c:v>
                </c:pt>
                <c:pt idx="3">
                  <c:v>62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$k</c:v>
                </c:pt>
              </c:strCache>
            </c:strRef>
          </c:tx>
          <c:spPr>
            <a:solidFill>
              <a:srgbClr val="3A7D7B"/>
            </a:solidFill>
            <a:ln>
              <a:solidFill>
                <a:srgbClr val="3A7D7B"/>
              </a:solidFill>
            </a:ln>
          </c:spPr>
          <c:cat>
            <c:strRef>
              <c:f>Sheet1!$A$2:$A$6</c:f>
              <c:strCache>
                <c:ptCount val="5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9.2</c:v>
                </c:pt>
                <c:pt idx="1">
                  <c:v>6.8</c:v>
                </c:pt>
                <c:pt idx="2">
                  <c:v>4.3</c:v>
                </c:pt>
                <c:pt idx="3">
                  <c:v>2.1</c:v>
                </c:pt>
                <c:pt idx="4">
                  <c:v>1.1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Commission $k</c:v>
                </c:pt>
              </c:strCache>
            </c:strRef>
          </c:tx>
          <c:spPr>
            <a:solidFill>
              <a:srgbClr val="B5483A"/>
            </a:solidFill>
            <a:ln>
              <a:solidFill>
                <a:srgbClr val="B5483A"/>
              </a:solidFill>
            </a:ln>
          </c:spPr>
          <c:cat>
            <c:strRef>
              <c:f>Sheet1!$A$2:$A$6</c:f>
              <c:strCache>
                <c:ptCount val="5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1.1</c:v>
                </c:pt>
                <c:pt idx="1">
                  <c:v>0.95</c:v>
                </c:pt>
                <c:pt idx="2">
                  <c:v>0.52</c:v>
                </c:pt>
                <c:pt idx="3">
                  <c:v>0.25</c:v>
                </c:pt>
                <c:pt idx="4">
                  <c:v>0.14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CVR %</c:v>
                </c:pt>
              </c:strCache>
            </c:strRef>
          </c:tx>
          <c:spPr>
            <a:solidFill>
              <a:srgbClr val="3A7D7B"/>
            </a:solidFill>
            <a:ln>
              <a:solidFill>
                <a:srgbClr val="3A7D7B"/>
              </a:solidFill>
            </a:ln>
          </c:spPr>
          <c:cat>
            <c:strRef>
              <c:f>Sheet1!$A$2:$A$5</c:f>
              <c:strCache>
                <c:ptCount val="4"/>
                <c:pt idx="0">
                  <c:v>SEO</c:v>
                </c:pt>
                <c:pt idx="1">
                  <c:v>Email</c:v>
                </c:pt>
                <c:pt idx="2">
                  <c:v>Social</c:v>
                </c:pt>
                <c:pt idx="3">
                  <c:v>Video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4.8</c:v>
                </c:pt>
                <c:pt idx="1">
                  <c:v>6.2</c:v>
                </c:pt>
                <c:pt idx="2">
                  <c:v>2.1</c:v>
                </c:pt>
                <c:pt idx="3">
                  <c:v>3.4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Plan index</c:v>
                </c:pt>
              </c:strCache>
            </c:strRef>
          </c:tx>
          <c:spPr>
            <a:solidFill>
              <a:srgbClr val="3A7D7B"/>
            </a:solidFill>
            <a:ln>
              <a:solidFill>
                <a:srgbClr val="3A7D7B"/>
              </a:solidFill>
            </a:ln>
          </c:spPr>
          <c:cat>
            <c:strRef>
              <c:f>Sheet1!$A$2:$A$5</c:f>
              <c:strCache>
                <c:ptCount val="4"/>
                <c:pt idx="0">
                  <c:v>Clicks</c:v>
                </c:pt>
                <c:pt idx="1">
                  <c:v>Approved orders</c:v>
                </c:pt>
                <c:pt idx="2">
                  <c:v>Revenue</c:v>
                </c:pt>
                <c:pt idx="3">
                  <c:v>ROI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 index</c:v>
                </c:pt>
              </c:strCache>
            </c:strRef>
          </c:tx>
          <c:spPr>
            <a:solidFill>
              <a:srgbClr val="B5483A"/>
            </a:solidFill>
            <a:ln>
              <a:solidFill>
                <a:srgbClr val="B5483A"/>
              </a:solidFill>
            </a:ln>
          </c:spPr>
          <c:cat>
            <c:strRef>
              <c:f>Sheet1!$A$2:$A$5</c:f>
              <c:strCache>
                <c:ptCount val="4"/>
                <c:pt idx="0">
                  <c:v>Clicks</c:v>
                </c:pt>
                <c:pt idx="1">
                  <c:v>Approved orders</c:v>
                </c:pt>
                <c:pt idx="2">
                  <c:v>Revenue</c:v>
                </c:pt>
                <c:pt idx="3">
                  <c:v>ROI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108</c:v>
                </c:pt>
                <c:pt idx="1">
                  <c:v>94</c:v>
                </c:pt>
                <c:pt idx="2">
                  <c:v>118</c:v>
                </c:pt>
                <c:pt idx="3">
                  <c:v>123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High</c:v>
                </c:pt>
              </c:strCache>
            </c:strRef>
          </c:tx>
          <c:spPr>
            <a:solidFill>
              <a:srgbClr val="3A7D7B"/>
            </a:solidFill>
            <a:ln>
              <a:solidFill>
                <a:srgbClr val="3A7D7B"/>
              </a:solidFill>
            </a:ln>
          </c:spPr>
          <c:cat>
            <c:strRef>
              <c:f>Sheet1!$A$2:$A$6</c:f>
              <c:strCache>
                <c:ptCount val="5"/>
                <c:pt idx="0">
                  <c:v>Disclosure</c:v>
                </c:pt>
                <c:pt idx="1">
                  <c:v>Claims</c:v>
                </c:pt>
                <c:pt idx="2">
                  <c:v>Brand</c:v>
                </c:pt>
                <c:pt idx="3">
                  <c:v>Tracking</c:v>
                </c:pt>
                <c:pt idx="4">
                  <c:v>Privacy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1</c:v>
                </c:pt>
                <c:pt idx="2">
                  <c:v>0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B5483A"/>
            </a:solidFill>
            <a:ln>
              <a:solidFill>
                <a:srgbClr val="B5483A"/>
              </a:solidFill>
            </a:ln>
          </c:spPr>
          <c:cat>
            <c:strRef>
              <c:f>Sheet1!$A$2:$A$6</c:f>
              <c:strCache>
                <c:ptCount val="5"/>
                <c:pt idx="0">
                  <c:v>Disclosure</c:v>
                </c:pt>
                <c:pt idx="1">
                  <c:v>Claims</c:v>
                </c:pt>
                <c:pt idx="2">
                  <c:v>Brand</c:v>
                </c:pt>
                <c:pt idx="3">
                  <c:v>Tracking</c:v>
                </c:pt>
                <c:pt idx="4">
                  <c:v>Privacy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</c:v>
                </c:pt>
                <c:pt idx="1">
                  <c:v>3</c:v>
                </c:pt>
                <c:pt idx="2">
                  <c:v>5</c:v>
                </c:pt>
                <c:pt idx="3">
                  <c:v>2</c:v>
                </c:pt>
                <c:pt idx="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Cambria"/>
          <a:ea typeface="Cambria"/>
          <a:cs typeface="Cambria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Cambria"/>
          <a:ea typeface="Cambria"/>
          <a:cs typeface="Cambria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Cambria"/>
          <a:ea typeface="Cambria"/>
          <a:cs typeface="Cambria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Calibri"/>
          <a:ea typeface="Calibri"/>
          <a:cs typeface="Calibri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Calibri"/>
          <a:ea typeface="Calibri"/>
          <a:cs typeface="Calibri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Calibri"/>
          <a:ea typeface="Calibri"/>
          <a:cs typeface="Calibri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Calibri"/>
          <a:ea typeface="Calibri"/>
          <a:cs typeface="Calibri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Calibri"/>
          <a:ea typeface="Calibri"/>
          <a:cs typeface="Calibri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Calibri"/>
          <a:ea typeface="Calibri"/>
          <a:cs typeface="Calibri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Calibri"/>
          <a:ea typeface="Calibri"/>
          <a:cs typeface="Calibri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5060552-Agentic-AI-for-Affiliate-Marketing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D97757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3A7D7B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400" b="1">
                <a:solidFill>
                  <a:srgbClr val="D97757"/>
                </a:solidFill>
                <a:latin typeface="Calibri"/>
              </a:rPr>
              <a:t>WSQ COURSE CODE  •  TGS-2025060552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65760"/>
            <a:ext cx="1005840" cy="868680"/>
          </a:xfrm>
          <a:prstGeom prst="roundRect">
            <a:avLst>
              <a:gd name="adj" fmla="val 18000"/>
            </a:avLst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80060"/>
            <a:ext cx="640080" cy="640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77240" y="1828800"/>
            <a:ext cx="10241280" cy="2651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5200" b="1">
                <a:solidFill>
                  <a:srgbClr val="FFFFFF"/>
                </a:solidFill>
                <a:latin typeface="Cambria"/>
              </a:rPr>
              <a:t>Agentic AI for Affiliate Marketing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212080"/>
            <a:ext cx="100584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Tertiary Infotech Academy Pte Ltd</a:t>
            </a:r>
          </a:p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UEN: 201200696W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172200"/>
            <a:ext cx="10515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200" b="0">
                <a:solidFill>
                  <a:srgbClr val="B9B4A9"/>
                </a:solidFill>
                <a:latin typeface="Calibri"/>
              </a:rPr>
              <a:t>www.tertiarycourses.com.sg   |   enquiry@tertiaryinfotech.com   |   +65 6100 0613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1371600"/>
            <a:ext cx="377647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r"/>
            <a:r>
              <a:rPr sz="1300" b="0">
                <a:solidFill>
                  <a:srgbClr val="B9B4A9"/>
                </a:solidFill>
                <a:latin typeface="Calibri"/>
              </a:rPr>
              <a:t>Version 3.0  ·  10 Oct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9752" y="6355080"/>
            <a:ext cx="4572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r"/>
            <a:r>
              <a:rPr sz="900" b="0">
                <a:solidFill>
                  <a:srgbClr val="8A867D"/>
                </a:solidFill>
                <a:latin typeface="Calibri"/>
              </a:rPr>
              <a:t>© Tertiary Infotech Academy Pte Ltd</a:t>
            </a:r>
          </a:p>
        </p:txBody>
      </p:sp>
    </p:spTree>
  </p:cSld>
  <p:clrMapOvr>
    <a:masterClrMapping/>
  </p:clrMapOvr>
  <p:transition spd="fast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21201C"/>
                </a:solidFill>
                <a:latin typeface="Cambria"/>
              </a:rPr>
              <a:t>Welcome and Learning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6B6862"/>
                </a:solidFill>
                <a:latin typeface="Calibri"/>
              </a:rPr>
              <a:t>How the course runs, what evidence is required and where control boundaries sit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Digital Attendance (Mandatory)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Scan the SSG QR code at the start of each training day.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PM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Complete the second attendance event after lunch.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Assessment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Complete the separate assessment attendance event before the papers.</a:t>
            </a:r>
          </a:p>
        </p:txBody>
      </p:sp>
    </p:spTree>
  </p:cSld>
  <p:clrMapOvr>
    <a:masterClrMapping/>
  </p:clrMapOvr>
  <p:transition spd="fast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About the Trainer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324612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27632" y="2212848"/>
            <a:ext cx="1325880" cy="13258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27632" y="2212848"/>
            <a:ext cx="132588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767328"/>
            <a:ext cx="278892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21201C"/>
                </a:solidFill>
                <a:latin typeface="Cambria"/>
              </a:rPr>
              <a:t>Your Trainer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2788920" cy="8412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6B6862"/>
                </a:solidFill>
                <a:latin typeface="Calibri"/>
              </a:rPr>
              <a:t>General trainer profile template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8" y="1783080"/>
            <a:ext cx="718718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8" y="1783080"/>
            <a:ext cx="73152" cy="7498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1856232"/>
            <a:ext cx="155448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3A7D7B"/>
                </a:solidFill>
                <a:latin typeface="Calibri"/>
              </a:rPr>
              <a:t>NAME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08192" y="1856232"/>
            <a:ext cx="50292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21201C"/>
                </a:solidFill>
                <a:latin typeface="Calibri"/>
              </a:rPr>
              <a:t>__________________________________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24528" y="2697480"/>
            <a:ext cx="718718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24528" y="2697480"/>
            <a:ext cx="73152" cy="74980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2770632"/>
            <a:ext cx="155448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5483A"/>
                </a:solidFill>
                <a:latin typeface="Calibri"/>
              </a:rPr>
              <a:t>DESIGNATION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08192" y="2770632"/>
            <a:ext cx="50292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21201C"/>
                </a:solidFill>
                <a:latin typeface="Calibri"/>
              </a:rPr>
              <a:t>__________________________________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4528" y="3611880"/>
            <a:ext cx="718718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24528" y="3611880"/>
            <a:ext cx="73152" cy="74980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3685032"/>
            <a:ext cx="155448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C88A2E"/>
                </a:solidFill>
                <a:latin typeface="Calibri"/>
              </a:rPr>
              <a:t>QUALIFICATIONS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08192" y="3685032"/>
            <a:ext cx="50292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21201C"/>
                </a:solidFill>
                <a:latin typeface="Calibri"/>
              </a:rPr>
              <a:t>__________________________________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24528" y="4526280"/>
            <a:ext cx="718718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24528" y="4526280"/>
            <a:ext cx="73152" cy="74980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60" y="4599432"/>
            <a:ext cx="155448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1201C"/>
                </a:solidFill>
                <a:latin typeface="Calibri"/>
              </a:rPr>
              <a:t>EXPERTISE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08192" y="4599432"/>
            <a:ext cx="50292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21201C"/>
                </a:solidFill>
                <a:latin typeface="Calibri"/>
              </a:rPr>
              <a:t>__________________________________</a:t>
            </a:r>
          </a:p>
        </p:txBody>
      </p:sp>
    </p:spTree>
  </p:cSld>
  <p:clrMapOvr>
    <a:masterClrMapping/>
  </p:clrMapOvr>
  <p:transition spd="fast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About the Trainer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324612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27632" y="2212848"/>
            <a:ext cx="1325880" cy="13258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27632" y="2212848"/>
            <a:ext cx="132588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AA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767328"/>
            <a:ext cx="278892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21201C"/>
                </a:solidFill>
                <a:latin typeface="Cambria"/>
              </a:rPr>
              <a:t>Dr Alfred 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2788920" cy="8412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6B6862"/>
                </a:solidFill>
                <a:latin typeface="Calibri"/>
              </a:rPr>
              <a:t>Principal Trainer · Tertiary Infotech Academy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8" y="1783080"/>
            <a:ext cx="718718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8" y="1783080"/>
            <a:ext cx="73152" cy="7498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1856232"/>
            <a:ext cx="155448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3A7D7B"/>
                </a:solidFill>
                <a:latin typeface="Calibri"/>
              </a:rPr>
              <a:t>ROLE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08192" y="1856232"/>
            <a:ext cx="50292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21201C"/>
                </a:solidFill>
                <a:latin typeface="Calibri"/>
              </a:rPr>
              <a:t>Principal trainer and courseware developer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24528" y="2697480"/>
            <a:ext cx="718718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24528" y="2697480"/>
            <a:ext cx="73152" cy="74980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2770632"/>
            <a:ext cx="155448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5483A"/>
                </a:solidFill>
                <a:latin typeface="Calibri"/>
              </a:rPr>
              <a:t>EXPERTISE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08192" y="2770632"/>
            <a:ext cx="50292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21201C"/>
                </a:solidFill>
                <a:latin typeface="Calibri"/>
              </a:rPr>
              <a:t>Agentic AI, automation, cloud and secure workflow design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4528" y="3611880"/>
            <a:ext cx="718718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24528" y="3611880"/>
            <a:ext cx="73152" cy="74980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3685032"/>
            <a:ext cx="155448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C88A2E"/>
                </a:solidFill>
                <a:latin typeface="Calibri"/>
              </a:rPr>
              <a:t>DELIVERY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08192" y="3685032"/>
            <a:ext cx="50292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21201C"/>
                </a:solidFill>
                <a:latin typeface="Calibri"/>
              </a:rPr>
              <a:t>Technical WSQ courses with evidence-led labs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24528" y="4526280"/>
            <a:ext cx="718718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24528" y="4526280"/>
            <a:ext cx="73152" cy="74980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60" y="4599432"/>
            <a:ext cx="155448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1201C"/>
                </a:solidFill>
                <a:latin typeface="Calibri"/>
              </a:rPr>
              <a:t>CONTACT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08192" y="4599432"/>
            <a:ext cx="50292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21201C"/>
                </a:solidFill>
                <a:latin typeface="Calibri"/>
              </a:rPr>
              <a:t>enquiry@tertiaryinfotech.com</a:t>
            </a:r>
          </a:p>
        </p:txBody>
      </p:sp>
    </p:spTree>
  </p:cSld>
  <p:clrMapOvr>
    <a:masterClrMapping/>
  </p:clrMapOvr>
  <p:transition spd="fast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ICEBREAKER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Let's Know Each Other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Role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Your role and the affiliate audiences you support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Current stack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Networks, analytics, CRM or content tools you use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Goal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One affiliate process you want to improve safely</a:t>
            </a:r>
          </a:p>
        </p:txBody>
      </p:sp>
    </p:spTree>
  </p:cSld>
  <p:clrMapOvr>
    <a:masterClrMapping/>
  </p:clrMapOvr>
  <p:transition spd="fast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LEARNING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Ground Rules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Participate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Ask, challenge and test claims with evidence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Protect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Use sample partners; never expose credentials or customer PII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Respect controls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Do not publish, message or spend without approval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Stay on 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Return promptly from breaks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Work independently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Assessment evidence must be your own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0624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0624" y="4041648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41792" y="4261104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41792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3856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Attendance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0936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At least 75% attendance is required</a:t>
            </a:r>
          </a:p>
        </p:txBody>
      </p:sp>
    </p:spTree>
  </p:cSld>
  <p:clrMapOvr>
    <a:masterClrMapping/>
  </p:clrMapOvr>
  <p:transition spd="fast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VISUAL PORTAL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Download Course Material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2523744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00200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00200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2304288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Sign in to lms-tms.tertiaryinfotech.com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82112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438144" y="2240280"/>
            <a:ext cx="2523744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79976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9976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3410712"/>
            <a:ext cx="2304288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Open this course run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61888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217920" y="2240280"/>
            <a:ext cx="2523744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5975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5975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7648" y="3410712"/>
            <a:ext cx="2304288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Download slides, Learner Guide and lab package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741664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997696" y="2240280"/>
            <a:ext cx="2523744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939528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39528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7424" y="3410712"/>
            <a:ext cx="2304288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Keep materials available for the open-book assessment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SCHEDULE · 16 HOURS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Two-Day Learning Journey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Day 1 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Offer economics, market evidence and trend Skill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5916" y="1700784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5916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87084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7084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9148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Day 1 PM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Partner discovery, due diligence and portfolio design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4041648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5024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Day 2 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Campaign factory, tracking and compliance controls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5916" y="4041648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85916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87084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7084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9148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Day 2 PM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6228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Commission reconciliation, reporting, optimisation and assessment</a:t>
            </a:r>
          </a:p>
        </p:txBody>
      </p:sp>
    </p:spTree>
  </p:cSld>
  <p:clrMapOvr>
    <a:masterClrMapping/>
  </p:clrMapOvr>
  <p:transition spd="fast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WSQ ALIGNMENT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Skills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TSC title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Affiliate Marketing-2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5916" y="1700784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5916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87084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7084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9148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TSC 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RET-OTO-2001-1.1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4041648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5024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Course duration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2 days · 16 training hours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5916" y="4041648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85916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87084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7084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9148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Assessment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6228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WA 60 min + Case Study 60 min · open book</a:t>
            </a:r>
          </a:p>
        </p:txBody>
      </p:sp>
    </p:spTree>
  </p:cSld>
  <p:clrMapOvr>
    <a:masterClrMapping/>
  </p:clrMapOvr>
  <p:transition spd="fast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WHAT YOU WILL BE ABLE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Learning 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LO1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Analyse trends and update partners on products and services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LO2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Research, coordinate and construct an effective affiliate portfolio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LO3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Report campaign performance, align strategy and maintain compliance</a:t>
            </a:r>
          </a:p>
        </p:txBody>
      </p:sp>
    </p:spTree>
  </p:cSld>
  <p:clrMapOvr>
    <a:masterClrMapping/>
  </p:clrMapOvr>
  <p:transition spd="fast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THREE ALIGNED TOPICS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Course Outline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Topic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Affiliate research, offer economics, Claude Cowork and reusable Skills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Topic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MCP-assisted partner due diligence, portfolio design and communication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Topic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Campaign tracking, compliance, commission reconciliation and reporting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ASSESSMENT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Knowledge and Ability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K1, K5, K6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Incentives, products and current trends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K2, K3, K7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Strategy, relationships and portfolio principles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K4, K8, K9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Campaign management, policy and marketing alignment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A1, A5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Current practice and product updates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A2, A3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Partner coordination and background research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0624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0624" y="4041648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41792" y="4261104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41792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3856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A4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0936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Progress, commission and activity reporting</a:t>
            </a:r>
          </a:p>
        </p:txBody>
      </p:sp>
    </p:spTree>
  </p:cSld>
  <p:clrMapOvr>
    <a:masterClrMapping/>
  </p:clrMapOvr>
  <p:transition spd="fast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BEFORE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Briefing for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Materials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Open book: slides, Learner Guide and approved files 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5916" y="1700784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5916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87084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7084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9148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Conduct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No discussion, photography or recording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4041648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5024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Submission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Complete and upload on the LMS as instructed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5916" y="4041648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85916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87084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7084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9148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6228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All prescribed assessment requirements must be competent</a:t>
            </a:r>
          </a:p>
        </p:txBody>
      </p:sp>
    </p:spTree>
  </p:cSld>
  <p:clrMapOvr>
    <a:masterClrMapping/>
  </p:clrMapOvr>
  <p:transition spd="fast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OPEN-BOOK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Assessment Instruments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WA-SAQ · 60 minutes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Three open-ended LO-grouped questions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Covers every K1-K9 criterion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Answer every question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Case Study · 60 minutes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One scenario with three tasks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Covers every A1-A5 criterion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Apply the six lab methods</a:t>
            </a:r>
          </a:p>
        </p:txBody>
      </p:sp>
    </p:spTree>
  </p:cSld>
  <p:clrMapOvr>
    <a:masterClrMapping/>
  </p:clrMapOvr>
  <p:transition spd="fast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WA -&gt; CS -&gt; SIGN-OFF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Assessment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TRAQOM attendance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Assessment digital attendance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Sit WA then Case Study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Upload completed answers on LMS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Sign Assessment Summary Record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LEARNER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Access the Hands-On Labs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74519"/>
            <a:ext cx="534924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874519"/>
            <a:ext cx="534924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212848"/>
            <a:ext cx="47548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Option A · Clone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4754880" cy="10972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git clone https://github.com/tertiarycourses/TGS-2025060552-Agentic-AI-for-Affiliate-Marketing.git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1874519"/>
            <a:ext cx="534924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874519"/>
            <a:ext cx="534924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2212848"/>
            <a:ext cx="47548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Option B · Download ZIP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2971800"/>
            <a:ext cx="4754880" cy="10972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GitHub · Code · Download ZIP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5166360"/>
            <a:ext cx="104698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3A7D7B"/>
                </a:solidFill>
                <a:latin typeface="Calibri"/>
                <a:hlinkClick r:id="rId2"/>
              </a:rPr>
              <a:t>https://github.com/tertiarycourses/TGS-2025060552-Agentic-AI-for-Affiliate-Marketing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Each lab is self-contained. Detailed procedures and evidence checks live in the lab README and Learner Guide.</a:t>
            </a:r>
          </a:p>
        </p:txBody>
      </p:sp>
    </p:spTree>
  </p:cSld>
  <p:clrMapOvr>
    <a:masterClrMapping/>
  </p:clrMapOvr>
  <p:transition spd="fast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TECHNICAL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21201C"/>
                </a:solidFill>
                <a:latin typeface="Cambria"/>
              </a:rPr>
              <a:t>The Controlled Campaign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6B6862"/>
                </a:solidFill>
                <a:latin typeface="Calibri"/>
              </a:rPr>
              <a:t>Architecture, state, autonomy, evidence and failure controls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  <p:transition spd="med">
    <p:push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The Controlled Affiliate Growth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Research market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Select offer and partners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Create governed content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Track events and commissions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Approve optimisation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Automation, Generative AI and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Deterministic automation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Fixed path and validation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Reliable calculations and writes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Best for identifiers and money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Agentic layer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Plans bounded research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Chooses approved tools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Must not own irreversible release</a:t>
            </a:r>
          </a:p>
        </p:txBody>
      </p:sp>
    </p:spTree>
  </p:cSld>
  <p:clrMapOvr>
    <a:masterClrMapping/>
  </p:clrMapOvr>
  <p:transition spd="fast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Campaign State Is a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campaign_id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stable correlation key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brief_version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monotonic approved revision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draft | review | approved | live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approval_hash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binds decision to exact payload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source_ids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evidence behind claims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evidence_uri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audit and assessment artifact</a:t>
            </a:r>
          </a:p>
        </p:txBody>
      </p:sp>
    </p:spTree>
  </p:cSld>
  <p:clrMapOvr>
    <a:masterClrMapping/>
  </p:clrMapOvr>
  <p:transition spd="fast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DECISION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Autonomy Boundary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23</a:t>
            </a:r>
          </a:p>
        </p:txBody>
      </p:sp>
      <p:sp>
        <p:nvSpPr>
          <p:cNvPr id="10" name="Diamond 9"/>
          <p:cNvSpPr/>
          <p:nvPr/>
        </p:nvSpPr>
        <p:spPr>
          <a:xfrm>
            <a:off x="4434840" y="1874519"/>
            <a:ext cx="3246120" cy="2148840"/>
          </a:xfrm>
          <a:prstGeom prst="diamond">
            <a:avLst/>
          </a:prstGeom>
          <a:solidFill>
            <a:srgbClr val="FBE9E4"/>
          </a:solidFill>
          <a:ln w="254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12848"/>
            <a:ext cx="2514600" cy="12801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Can this action publish, message, spend, change tracking or expose personal data?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343400"/>
            <a:ext cx="4983480" cy="1097280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YES · </a:t>
            </a:r>
            <a:r>
              <a:rPr sz="1350" b="0">
                <a:solidFill>
                  <a:srgbClr val="21201C"/>
                </a:solidFill>
                <a:latin typeface="Calibri"/>
              </a:rPr>
              <a:t>Require named human approval and an exact preview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343400"/>
            <a:ext cx="4983480" cy="1097280"/>
          </a:xfrm>
          <a:prstGeom prst="roundRect">
            <a:avLst/>
          </a:prstGeom>
          <a:solidFill>
            <a:srgbClr val="FB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5483A"/>
                </a:solidFill>
                <a:latin typeface="Calibri"/>
              </a:rPr>
              <a:t>NO · </a:t>
            </a:r>
            <a:r>
              <a:rPr sz="1350" b="0">
                <a:solidFill>
                  <a:srgbClr val="21201C"/>
                </a:solidFill>
                <a:latin typeface="Calibri"/>
              </a:rPr>
              <a:t>Allow bounded analysis with logging and limits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200400" y="3749039"/>
            <a:ext cx="1828800" cy="594361"/>
          </a:xfrm>
          <a:prstGeom prst="bentConnector3">
            <a:avLst/>
          </a:prstGeom>
          <a:ln w="254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78040" y="3749039"/>
            <a:ext cx="1783080" cy="594361"/>
          </a:xfrm>
          <a:prstGeom prst="bentConnector3">
            <a:avLst/>
          </a:prstGeom>
          <a:ln w="2540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Affiliate Value Equation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Profit = attributed revenue - commission - media cost - platform cost - returns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$18,000 - $2,700 - $3,500 - $500 - $900 = $10,400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Revenue alone cannot tell whether an affiliate programme creates value.</a:t>
            </a:r>
          </a:p>
        </p:txBody>
      </p:sp>
    </p:spTree>
  </p:cSld>
  <p:clrMapOvr>
    <a:masterClrMapping/>
  </p:clrMapOvr>
  <p:transition spd="fast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3A7D7B"/>
                </a:solidFill>
                <a:latin typeface="Calibri"/>
              </a:rPr>
              <a:t>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Five Planes of the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goals, audience, offer and policy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Partner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profiles, terms and communications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Content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claims, channels and tracked links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events, metrics and commission ledger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Control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approvals, limits and audit trail</a:t>
            </a:r>
          </a:p>
        </p:txBody>
      </p:sp>
    </p:spTree>
  </p:cSld>
  <p:clrMapOvr>
    <a:masterClrMapping/>
  </p:clrMapOvr>
  <p:transition spd="fast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Minimum Agent Audit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task and run identifiers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input brief version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source IDs and timestamps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agent output and validation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human decision and payload hash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0624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0624" y="4041648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41792" y="4261104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41792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3856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0936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external response or report artifact</a:t>
            </a:r>
          </a:p>
        </p:txBody>
      </p:sp>
    </p:spTree>
  </p:cSld>
  <p:clrMapOvr>
    <a:masterClrMapping/>
  </p:clrMapOvr>
  <p:transition spd="fast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FAILURE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Failure Taxonomy Before the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27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1865376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755648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Evidence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unsupported or stale source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2724912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2491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615184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Partner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2615184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670048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fraud, mismatch or concentration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584448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8444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474720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Content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3474720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529584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claim, disclosure or brand failure</a:t>
            </a:r>
          </a:p>
        </p:txBody>
      </p:sp>
      <p:sp>
        <p:nvSpPr>
          <p:cNvPr id="25" name="Oval 24"/>
          <p:cNvSpPr/>
          <p:nvPr/>
        </p:nvSpPr>
        <p:spPr>
          <a:xfrm>
            <a:off x="749808" y="4443984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4398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334256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Attribution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4334256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389120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duplicate, missing or misassigned event</a:t>
            </a:r>
          </a:p>
        </p:txBody>
      </p:sp>
      <p:sp>
        <p:nvSpPr>
          <p:cNvPr id="30" name="Oval 29"/>
          <p:cNvSpPr/>
          <p:nvPr/>
        </p:nvSpPr>
        <p:spPr>
          <a:xfrm>
            <a:off x="749808" y="5303520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03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193792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Operations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3552" y="5193792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248656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credential leak or unapproved action</a:t>
            </a:r>
          </a:p>
        </p:txBody>
      </p:sp>
    </p:spTree>
  </p:cSld>
  <p:clrMapOvr>
    <a:masterClrMapping/>
  </p:clrMapOvr>
  <p:transition spd="fast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TOPIC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21201C"/>
                </a:solidFill>
                <a:latin typeface="Cambria"/>
              </a:rPr>
              <a:t>Affiliate Research and Campaign Planning with Claude Cowork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6B6862"/>
                </a:solidFill>
                <a:latin typeface="Calibri"/>
              </a:rPr>
              <a:t>Market signals -&gt; offer economics -&gt; reusable research Skill -&gt; evidence-led partner update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731520"/>
            <a:ext cx="18288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B9B4A9"/>
                </a:solidFill>
                <a:latin typeface="Cambr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  <p:transition spd="med">
    <p:push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LO1 | K1, K5, K6 | A1,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Topic 01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29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Mechanism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Model incentive economics with EPC, conversion, commission and break-even thresholds.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5916" y="1700784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5916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87084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7084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9148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Mechanism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Separate observed market evidence from agent inference and partner-facing recommendations.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4041648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5024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Mechanism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Package repeatable affiliate research and product-update work as a bounded Claude Skill.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5916" y="4041648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85916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87084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7084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9148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Mechanism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6228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Use human review to control claims, pricing, disclosure, data use and external communication.</a:t>
            </a:r>
          </a:p>
        </p:txBody>
      </p:sp>
    </p:spTree>
  </p:cSld>
  <p:clrMapOvr>
    <a:masterClrMapping/>
  </p:clrMapOvr>
  <p:transition spd="fast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VISUAL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Research Specialists Propose; Humans Decide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30</a:t>
            </a:r>
          </a:p>
        </p:txBody>
      </p:sp>
      <p:pic>
        <p:nvPicPr>
          <p:cNvPr id="10" name="Picture 9" descr="affiliate-research-agents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55648"/>
            <a:ext cx="8001000" cy="444398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87968" y="1783080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887968" y="1783080"/>
            <a:ext cx="64008" cy="758952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89136" y="1856232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3A7D7B"/>
                </a:solidFill>
                <a:latin typeface="Calibri"/>
              </a:rPr>
              <a:t>Trend researcher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evidence and change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87968" y="2633472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87968" y="2633472"/>
            <a:ext cx="64008" cy="758952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2706624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B5483A"/>
                </a:solidFill>
                <a:latin typeface="Calibri"/>
              </a:rPr>
              <a:t>Partner scout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audience and fit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87968" y="3483864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87968" y="3483864"/>
            <a:ext cx="64008" cy="758952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9136" y="3557016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C88A2E"/>
                </a:solidFill>
                <a:latin typeface="Calibri"/>
              </a:rPr>
              <a:t>Offer evaluator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economics and risk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87968" y="4334256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87968" y="4334256"/>
            <a:ext cx="64008" cy="758952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89136" y="4407408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Content planner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channel and message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87968" y="5184648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87968" y="5184648"/>
            <a:ext cx="64008" cy="758952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89136" y="5257800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3A7D7B"/>
                </a:solidFill>
                <a:latin typeface="Calibri"/>
              </a:rPr>
              <a:t>Human owner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approve exact brief</a:t>
            </a:r>
          </a:p>
        </p:txBody>
      </p:sp>
    </p:spTree>
  </p:cSld>
  <p:clrMapOvr>
    <a:masterClrMapping/>
  </p:clrMapOvr>
  <p:transition spd="fast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Affiliate Transaction Runtime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597152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36904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6904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377696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Publisher places tracked link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55520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511552" y="2240280"/>
            <a:ext cx="1597152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90088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0088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1280" y="3410712"/>
            <a:ext cx="1377696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Visitor clicks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108704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364736" y="2240280"/>
            <a:ext cx="1597152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4327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327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4464" y="3410712"/>
            <a:ext cx="1377696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Network records click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61888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217920" y="2240280"/>
            <a:ext cx="1597152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96456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96456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7648" y="3410712"/>
            <a:ext cx="1377696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Customer converts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815072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071104" y="2240280"/>
            <a:ext cx="1597152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49640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9640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0832" y="3410712"/>
            <a:ext cx="1377696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Merchant validates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6682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924288" y="2240280"/>
            <a:ext cx="1597152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402824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402824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34016" y="3410712"/>
            <a:ext cx="1377696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Commission settles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Trend Monitoring 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Define signals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Collect dated sources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Normalise observations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Compare baseline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Publish reviewed update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Offer Evaluation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Confirm audience job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Check product evidence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Model economics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Test policy fit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Approve or reject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Claude Cowork Research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Load bounded folder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Read approved sources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Run research Skill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Check evidence cards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Human releases update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Reusable Skill Execution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35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Description triggers Skill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Instructions set method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Resources supply templates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Checks validate output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Result returns with evidence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Product Update Communication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Detect approved change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Diff product record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Draft partner impact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Review claims and date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Send through owned channel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Review Content Evidence 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Product source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Feature-to-benefit claim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Audience limitation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Disclosure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Tracked CTA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From Ebook Foundation to Current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Select niche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Choose product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Create useful review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Attract qualified traffic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Track and improve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Offer Evaluation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offer_id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stable product or service key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commission_model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CPS | CPA | CPL | recurring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commission_value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rate or fixed amount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cookie_window_days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attribution eligibility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refund_window_days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reversal exposure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approved_claims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verifiable product proof</a:t>
            </a:r>
          </a:p>
        </p:txBody>
      </p:sp>
    </p:spTree>
  </p:cSld>
  <p:clrMapOvr>
    <a:masterClrMapping/>
  </p:clrMapOvr>
  <p:transition spd="fast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Trend Evidence Card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40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what changed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source_url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direct evidence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published_at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source date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captured_at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research date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confidence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low | medium | high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implication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bounded partner action</a:t>
            </a:r>
          </a:p>
        </p:txBody>
      </p:sp>
    </p:spTree>
  </p:cSld>
  <p:clrMapOvr>
    <a:masterClrMapping/>
  </p:clrMapOvr>
  <p:transition spd="fast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Affiliate Content Brief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audience_job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problem and 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offer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approved product version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angle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one defensible promise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proof_ids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sources for factual claims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disclosure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clear affiliate relationship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one tracked next step</a:t>
            </a:r>
          </a:p>
        </p:txBody>
      </p:sp>
    </p:spTree>
  </p:cSld>
  <p:clrMapOvr>
    <a:masterClrMapping/>
  </p:clrMapOvr>
  <p:transition spd="fast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Claude Skill Package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SKILL.md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trigger and workflow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templates/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repeatable output shape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references/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approved domain knowledge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scripts/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deterministic checks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examples/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quality baseline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version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change and review history</a:t>
            </a:r>
          </a:p>
        </p:txBody>
      </p:sp>
    </p:spTree>
  </p:cSld>
  <p:clrMapOvr>
    <a:masterClrMapping/>
  </p:clrMapOvr>
  <p:transition spd="fast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MCP Research Tool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tool_name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intent-specific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input_schema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allowed query fields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permission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read-only by default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output_schema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evidence and source IDs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timeout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bounded execution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audit_id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traceable invocation</a:t>
            </a:r>
          </a:p>
        </p:txBody>
      </p:sp>
    </p:spTree>
  </p:cSld>
  <p:clrMapOvr>
    <a:masterClrMapping/>
  </p:clrMapOvr>
  <p:transition spd="fast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Product Change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product_id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stable catalogue key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effective_at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when the change applies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changed_fields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price, terms, feature or availability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partner_impact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what affiliates must change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assets_version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approved creative set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owner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accountable approver</a:t>
            </a:r>
          </a:p>
        </p:txBody>
      </p:sp>
    </p:spTree>
  </p:cSld>
  <p:clrMapOvr>
    <a:masterClrMapping/>
  </p:clrMapOvr>
  <p:transition spd="fast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Source Allow-List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domain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approved source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source_type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product, policy, market or partner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freshness_days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maximum acceptable age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claims_allowed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supported statement classes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pii_rule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data-handling boundary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review_owner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human source steward</a:t>
            </a:r>
          </a:p>
        </p:txBody>
      </p:sp>
    </p:spTree>
  </p:cSld>
  <p:clrMapOvr>
    <a:masterClrMapping/>
  </p:clrMapOvr>
  <p:transition spd="fast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Earnings per Click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46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EPC = affiliate commission / unique tracked clicks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$1,260 commission / 4,200 clicks = $0.30 EPC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Compare offers only when the attribution window and traffic quality are comparable.</a:t>
            </a:r>
          </a:p>
        </p:txBody>
      </p:sp>
    </p:spTree>
  </p:cSld>
  <p:clrMapOvr>
    <a:masterClrMapping/>
  </p:clrMapOvr>
  <p:transition spd="fast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Conversion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Conversion rate = approved conversions / unique clicks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168 approved orders / 4,200 clicks = 4.0%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Use approved conversions after cancellations, not raw checkout events.</a:t>
            </a:r>
          </a:p>
        </p:txBody>
      </p:sp>
    </p:spTree>
  </p:cSld>
  <p:clrMapOvr>
    <a:masterClrMapping/>
  </p:clrMapOvr>
  <p:transition spd="fast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Expected Commission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Expected commission = clicks x conversion rate x average order value x commission 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5,000 x 3.2% x $140 x 12% = $2,688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Every assumption needs a source or a sensitivity range.</a:t>
            </a:r>
          </a:p>
        </p:txBody>
      </p:sp>
    </p:spTree>
  </p:cSld>
  <p:clrMapOvr>
    <a:masterClrMapping/>
  </p:clrMapOvr>
  <p:transition spd="fast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Break-Even CPC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49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Break-even CPC = conversion rate x order value x commission 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0.032 x $140 x 0.12 = $0.5376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Paid traffic above $0.54 per click loses money before overhead and reversals.</a:t>
            </a:r>
          </a:p>
        </p:txBody>
      </p:sp>
    </p:spTree>
  </p:cSld>
  <p:clrMapOvr>
    <a:masterClrMapping/>
  </p:clrMapOvr>
  <p:transition spd="fast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Refund-Adjusted EPC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Adjusted EPC = gross commission x (1 - reversal rate) / unique clicks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$1,260 x 0.91 / 4,200 = $0.273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A high headline commission can hide costly reversals.</a:t>
            </a:r>
          </a:p>
        </p:txBody>
      </p:sp>
    </p:spTree>
  </p:cSld>
  <p:clrMapOvr>
    <a:masterClrMapping/>
  </p:clrMapOvr>
  <p:transition spd="fast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Content Payback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51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Payback clicks = content cost / expected EPC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$900 article / $0.30 EPC = 3,000 clicks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Use incremental qualified clicks, not page views, for payback.</a:t>
            </a:r>
          </a:p>
        </p:txBody>
      </p:sp>
    </p:spTree>
  </p:cSld>
  <p:clrMapOvr>
    <a:masterClrMapping/>
  </p:clrMapOvr>
  <p:transition spd="fast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Trend Priority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52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Priority = relevance x confidence x urgency / effort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4 x 3 x 4 / 2 = 24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The score ranks research follow-up; it does not make a claim true.</a:t>
            </a:r>
          </a:p>
        </p:txBody>
      </p:sp>
    </p:spTree>
  </p:cSld>
  <p:clrMapOvr>
    <a:masterClrMapping/>
  </p:clrMapOvr>
  <p:transition spd="fast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CPS, CPA and CPL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53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Revenue-linked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CPS pays after approved sale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Aligns with merchant revenue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Sensitive to refunds and attribution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Action-linked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CPA/CPL pays for defined action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Faster feedback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Needs strict quality validation</a:t>
            </a:r>
          </a:p>
        </p:txBody>
      </p:sp>
    </p:spTree>
  </p:cSld>
  <p:clrMapOvr>
    <a:masterClrMapping/>
  </p:clrMapOvr>
  <p:transition spd="fast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Recurring vs One-Time Commission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54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Recurring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Rewards retained subscriptions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Requires churn and cohort view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Longer earnings tail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One-time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Simple settlement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Fast payback read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Can favour short-term acquisition</a:t>
            </a:r>
          </a:p>
        </p:txBody>
      </p:sp>
    </p:spTree>
  </p:cSld>
  <p:clrMapOvr>
    <a:masterClrMapping/>
  </p:clrMapOvr>
  <p:transition spd="fast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Broad Category vs Narrow Niche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55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Broad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Larger possible reach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More content competition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Weaker audience specificity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Narrow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Clearer expertise and intent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Smaller reachable market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Often stronger conversion quality</a:t>
            </a:r>
          </a:p>
        </p:txBody>
      </p:sp>
    </p:spTree>
  </p:cSld>
  <p:clrMapOvr>
    <a:masterClrMapping/>
  </p:clrMapOvr>
  <p:transition spd="fast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Review Article vs Comparison Page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56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Review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Deep single-offer evidence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Supports high-intent query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Must disclose limitations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Comparison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Makes criteria explicit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Supports choice among offers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Needs fair and current data</a:t>
            </a:r>
          </a:p>
        </p:txBody>
      </p:sp>
    </p:spTree>
  </p:cSld>
  <p:clrMapOvr>
    <a:masterClrMapping/>
  </p:clrMapOvr>
  <p:transition spd="fast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Owned vs Paid Traffic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57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Owned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SEO, email and community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Compounds but takes time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Greater message control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Paid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Immediate test volume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Marginal cost per click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Strict break-even control</a:t>
            </a:r>
          </a:p>
        </p:txBody>
      </p:sp>
    </p:spTree>
  </p:cSld>
  <p:clrMapOvr>
    <a:masterClrMapping/>
  </p:clrMapOvr>
  <p:transition spd="fast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Observed Signal vs Agent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58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Observed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Source-dated fact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Quantified sample or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Reproducible by reviewer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Inferred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Possible explanation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Must state uncertainty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Requires test before causality</a:t>
            </a:r>
          </a:p>
        </p:txBody>
      </p:sp>
    </p:spTree>
  </p:cSld>
  <p:clrMapOvr>
    <a:masterClrMapping/>
  </p:clrMapOvr>
  <p:transition spd="fast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Manual Prompt vs Reusable Skill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59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One-off prompt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Fast exploration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Variable method and format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Harder to audit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Custom Skill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Versioned method and templates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Repeatable acceptance checks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Reusable across campaigns</a:t>
            </a:r>
          </a:p>
        </p:txBody>
      </p:sp>
    </p:spTree>
  </p:cSld>
  <p:clrMapOvr>
    <a:masterClrMapping/>
  </p:clrMapOvr>
  <p:transition spd="fast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Commission Model Sensitivity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60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The highest rate is not automatically the highest profit; conversion and validation rules dominate.</a:t>
            </a:r>
          </a:p>
        </p:txBody>
      </p:sp>
    </p:spTree>
  </p:cSld>
  <p:clrMapOvr>
    <a:masterClrMapping/>
  </p:clrMapOvr>
  <p:transition spd="fast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Traffic Quality by Channel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61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Email converts best in this teaching set, while social supplies reach but weaker intent.</a:t>
            </a:r>
          </a:p>
        </p:txBody>
      </p:sp>
    </p:spTree>
  </p:cSld>
  <p:clrMapOvr>
    <a:masterClrMapping/>
  </p:clrMapOvr>
  <p:transition spd="fast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Offer Scorecard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62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Offer B's economics cannot compensate for a policy score below the release threshold.</a:t>
            </a:r>
          </a:p>
        </p:txBody>
      </p:sp>
    </p:spTree>
  </p:cSld>
  <p:clrMapOvr>
    <a:masterClrMapping/>
  </p:clrMapOvr>
  <p:transition spd="fast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Trend Signal Confidence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63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Confidence rises with independent evidence and direct behavioural data.</a:t>
            </a:r>
          </a:p>
        </p:txBody>
      </p:sp>
    </p:spTree>
  </p:cSld>
  <p:clrMapOvr>
    <a:masterClrMapping/>
  </p:clrMapOvr>
  <p:transition spd="fast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Content Funnel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64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The largest absolute drop is visibility to visit; the commercial decision still depends on EPC and cost.</a:t>
            </a:r>
          </a:p>
        </p:txBody>
      </p:sp>
    </p:spTree>
  </p:cSld>
  <p:clrMapOvr>
    <a:masterClrMapping/>
  </p:clrMapOvr>
  <p:transition spd="fast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DECISION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Select an Offer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65</a:t>
            </a:r>
          </a:p>
        </p:txBody>
      </p:sp>
      <p:sp>
        <p:nvSpPr>
          <p:cNvPr id="10" name="Diamond 9"/>
          <p:cNvSpPr/>
          <p:nvPr/>
        </p:nvSpPr>
        <p:spPr>
          <a:xfrm>
            <a:off x="4434840" y="1874519"/>
            <a:ext cx="3246120" cy="2148840"/>
          </a:xfrm>
          <a:prstGeom prst="diamond">
            <a:avLst/>
          </a:prstGeom>
          <a:solidFill>
            <a:srgbClr val="FBE9E4"/>
          </a:solidFill>
          <a:ln w="254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12848"/>
            <a:ext cx="2514600" cy="12801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Do audience fit, evidence, policy and downside all meet minimum thresholds?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343400"/>
            <a:ext cx="4983480" cy="1097280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YES · </a:t>
            </a:r>
            <a:r>
              <a:rPr sz="1350" b="0">
                <a:solidFill>
                  <a:srgbClr val="21201C"/>
                </a:solidFill>
                <a:latin typeface="Calibri"/>
              </a:rPr>
              <a:t>Model expected value and approve a bounded pilot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343400"/>
            <a:ext cx="4983480" cy="1097280"/>
          </a:xfrm>
          <a:prstGeom prst="roundRect">
            <a:avLst/>
          </a:prstGeom>
          <a:solidFill>
            <a:srgbClr val="FB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5483A"/>
                </a:solidFill>
                <a:latin typeface="Calibri"/>
              </a:rPr>
              <a:t>NO · </a:t>
            </a:r>
            <a:r>
              <a:rPr sz="1350" b="0">
                <a:solidFill>
                  <a:srgbClr val="21201C"/>
                </a:solidFill>
                <a:latin typeface="Calibri"/>
              </a:rPr>
              <a:t>Reject or request missing evidence; do not average away a hard failure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200400" y="3749039"/>
            <a:ext cx="1828800" cy="594361"/>
          </a:xfrm>
          <a:prstGeom prst="bentConnector3">
            <a:avLst/>
          </a:prstGeom>
          <a:ln w="254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78040" y="3749039"/>
            <a:ext cx="1783080" cy="594361"/>
          </a:xfrm>
          <a:prstGeom prst="bentConnector3">
            <a:avLst/>
          </a:prstGeom>
          <a:ln w="2540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DECISION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Release a Product Update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66</a:t>
            </a:r>
          </a:p>
        </p:txBody>
      </p:sp>
      <p:sp>
        <p:nvSpPr>
          <p:cNvPr id="10" name="Diamond 9"/>
          <p:cNvSpPr/>
          <p:nvPr/>
        </p:nvSpPr>
        <p:spPr>
          <a:xfrm>
            <a:off x="4434840" y="1874519"/>
            <a:ext cx="3246120" cy="2148840"/>
          </a:xfrm>
          <a:prstGeom prst="diamond">
            <a:avLst/>
          </a:prstGeom>
          <a:solidFill>
            <a:srgbClr val="FBE9E4"/>
          </a:solidFill>
          <a:ln w="254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12848"/>
            <a:ext cx="2514600" cy="12801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Is the change approved, effective-dated and supported by current product evidence?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343400"/>
            <a:ext cx="4983480" cy="1097280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YES · </a:t>
            </a:r>
            <a:r>
              <a:rPr sz="1350" b="0">
                <a:solidFill>
                  <a:srgbClr val="21201C"/>
                </a:solidFill>
                <a:latin typeface="Calibri"/>
              </a:rPr>
              <a:t>Send the versioned partner update with required actions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343400"/>
            <a:ext cx="4983480" cy="1097280"/>
          </a:xfrm>
          <a:prstGeom prst="roundRect">
            <a:avLst/>
          </a:prstGeom>
          <a:solidFill>
            <a:srgbClr val="FB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5483A"/>
                </a:solidFill>
                <a:latin typeface="Calibri"/>
              </a:rPr>
              <a:t>NO · </a:t>
            </a:r>
            <a:r>
              <a:rPr sz="1350" b="0">
                <a:solidFill>
                  <a:srgbClr val="21201C"/>
                </a:solidFill>
                <a:latin typeface="Calibri"/>
              </a:rPr>
              <a:t>Hold the update and escalate to the product owner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200400" y="3749039"/>
            <a:ext cx="1828800" cy="594361"/>
          </a:xfrm>
          <a:prstGeom prst="bentConnector3">
            <a:avLst/>
          </a:prstGeom>
          <a:ln w="254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78040" y="3749039"/>
            <a:ext cx="1783080" cy="594361"/>
          </a:xfrm>
          <a:prstGeom prst="bentConnector3">
            <a:avLst/>
          </a:prstGeom>
          <a:ln w="2540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DECISION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Trust a Trend Claim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67</a:t>
            </a:r>
          </a:p>
        </p:txBody>
      </p:sp>
      <p:sp>
        <p:nvSpPr>
          <p:cNvPr id="10" name="Diamond 9"/>
          <p:cNvSpPr/>
          <p:nvPr/>
        </p:nvSpPr>
        <p:spPr>
          <a:xfrm>
            <a:off x="4434840" y="1874519"/>
            <a:ext cx="3246120" cy="2148840"/>
          </a:xfrm>
          <a:prstGeom prst="diamond">
            <a:avLst/>
          </a:prstGeom>
          <a:solidFill>
            <a:srgbClr val="FBE9E4"/>
          </a:solidFill>
          <a:ln w="254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12848"/>
            <a:ext cx="2514600" cy="12801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Do at least two independent sources or one direct data source support the same observation?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343400"/>
            <a:ext cx="4983480" cy="1097280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YES · </a:t>
            </a:r>
            <a:r>
              <a:rPr sz="1350" b="0">
                <a:solidFill>
                  <a:srgbClr val="21201C"/>
                </a:solidFill>
                <a:latin typeface="Calibri"/>
              </a:rPr>
              <a:t>Record confidence and test the implication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343400"/>
            <a:ext cx="4983480" cy="1097280"/>
          </a:xfrm>
          <a:prstGeom prst="roundRect">
            <a:avLst/>
          </a:prstGeom>
          <a:solidFill>
            <a:srgbClr val="FB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5483A"/>
                </a:solidFill>
                <a:latin typeface="Calibri"/>
              </a:rPr>
              <a:t>NO · </a:t>
            </a:r>
            <a:r>
              <a:rPr sz="1350" b="0">
                <a:solidFill>
                  <a:srgbClr val="21201C"/>
                </a:solidFill>
                <a:latin typeface="Calibri"/>
              </a:rPr>
              <a:t>Label as unverified and keep monitoring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200400" y="3749039"/>
            <a:ext cx="1828800" cy="594361"/>
          </a:xfrm>
          <a:prstGeom prst="bentConnector3">
            <a:avLst/>
          </a:prstGeom>
          <a:ln w="254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78040" y="3749039"/>
            <a:ext cx="1783080" cy="594361"/>
          </a:xfrm>
          <a:prstGeom prst="bentConnector3">
            <a:avLst/>
          </a:prstGeom>
          <a:ln w="2540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DECISION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Use an MCP 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68</a:t>
            </a:r>
          </a:p>
        </p:txBody>
      </p:sp>
      <p:sp>
        <p:nvSpPr>
          <p:cNvPr id="10" name="Diamond 9"/>
          <p:cNvSpPr/>
          <p:nvPr/>
        </p:nvSpPr>
        <p:spPr>
          <a:xfrm>
            <a:off x="4434840" y="1874519"/>
            <a:ext cx="3246120" cy="2148840"/>
          </a:xfrm>
          <a:prstGeom prst="diamond">
            <a:avLst/>
          </a:prstGeom>
          <a:solidFill>
            <a:srgbClr val="FBE9E4"/>
          </a:solidFill>
          <a:ln w="254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12848"/>
            <a:ext cx="2514600" cy="12801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Is the source authorised and the requested action within the tool's least-privilege scope?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343400"/>
            <a:ext cx="4983480" cy="1097280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YES · </a:t>
            </a:r>
            <a:r>
              <a:rPr sz="1350" b="0">
                <a:solidFill>
                  <a:srgbClr val="21201C"/>
                </a:solidFill>
                <a:latin typeface="Calibri"/>
              </a:rPr>
              <a:t>Call the tool and preserve its audit 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343400"/>
            <a:ext cx="4983480" cy="1097280"/>
          </a:xfrm>
          <a:prstGeom prst="roundRect">
            <a:avLst/>
          </a:prstGeom>
          <a:solidFill>
            <a:srgbClr val="FB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5483A"/>
                </a:solidFill>
                <a:latin typeface="Calibri"/>
              </a:rPr>
              <a:t>NO · </a:t>
            </a:r>
            <a:r>
              <a:rPr sz="1350" b="0">
                <a:solidFill>
                  <a:srgbClr val="21201C"/>
                </a:solidFill>
                <a:latin typeface="Calibri"/>
              </a:rPr>
              <a:t>Do not connect; use an approved read-only source or ask the owner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200400" y="3749039"/>
            <a:ext cx="1828800" cy="594361"/>
          </a:xfrm>
          <a:prstGeom prst="bentConnector3">
            <a:avLst/>
          </a:prstGeom>
          <a:ln w="254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78040" y="3749039"/>
            <a:ext cx="1783080" cy="594361"/>
          </a:xfrm>
          <a:prstGeom prst="bentConnector3">
            <a:avLst/>
          </a:prstGeom>
          <a:ln w="2540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FAILURE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Offer-Selection Failure Modes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69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1865376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755648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Rate bias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choosing the largest commission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2724912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2491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615184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Cookie mismatch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2615184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670048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ignoring attribution window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584448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8444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474720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Return exposure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3474720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529584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using gross conversions</a:t>
            </a:r>
          </a:p>
        </p:txBody>
      </p:sp>
      <p:sp>
        <p:nvSpPr>
          <p:cNvPr id="25" name="Oval 24"/>
          <p:cNvSpPr/>
          <p:nvPr/>
        </p:nvSpPr>
        <p:spPr>
          <a:xfrm>
            <a:off x="749808" y="4443984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4398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334256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Weak proof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4334256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389120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promoting unsupported benefits</a:t>
            </a:r>
          </a:p>
        </p:txBody>
      </p:sp>
      <p:sp>
        <p:nvSpPr>
          <p:cNvPr id="30" name="Oval 29"/>
          <p:cNvSpPr/>
          <p:nvPr/>
        </p:nvSpPr>
        <p:spPr>
          <a:xfrm>
            <a:off x="749808" y="5303520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03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193792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Ops mismatch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3552" y="5193792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248656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merchant cannot fulfil demand</a:t>
            </a:r>
          </a:p>
        </p:txBody>
      </p:sp>
    </p:spTree>
  </p:cSld>
  <p:clrMapOvr>
    <a:masterClrMapping/>
  </p:clrMapOvr>
  <p:transition spd="fast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FAILURE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Research Failure Modes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70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1865376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755648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Stale source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old trend presented as current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2724912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2491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615184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Source laundering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2615184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670048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agent answer without direct URL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584448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8444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474720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False consensus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3474720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529584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many copies of one claim</a:t>
            </a:r>
          </a:p>
        </p:txBody>
      </p:sp>
      <p:sp>
        <p:nvSpPr>
          <p:cNvPr id="25" name="Oval 24"/>
          <p:cNvSpPr/>
          <p:nvPr/>
        </p:nvSpPr>
        <p:spPr>
          <a:xfrm>
            <a:off x="749808" y="4443984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4398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334256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Confirmation bias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4334256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389120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search framed around desired answer</a:t>
            </a:r>
          </a:p>
        </p:txBody>
      </p:sp>
      <p:sp>
        <p:nvSpPr>
          <p:cNvPr id="30" name="Oval 29"/>
          <p:cNvSpPr/>
          <p:nvPr/>
        </p:nvSpPr>
        <p:spPr>
          <a:xfrm>
            <a:off x="749808" y="5303520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03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193792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PII leakage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3552" y="5193792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248656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personal data added to prompts</a:t>
            </a:r>
          </a:p>
        </p:txBody>
      </p:sp>
    </p:spTree>
  </p:cSld>
  <p:clrMapOvr>
    <a:masterClrMapping/>
  </p:clrMapOvr>
  <p:transition spd="fast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FAILURE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Content Failure Modes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71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1865376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755648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Spam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volume without audience value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2724912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2491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615184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Wrong words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2615184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670048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claims do not match intent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584448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8444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474720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Wrong traffic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3474720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529584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reach without qualified demand</a:t>
            </a:r>
          </a:p>
        </p:txBody>
      </p:sp>
      <p:sp>
        <p:nvSpPr>
          <p:cNvPr id="25" name="Oval 24"/>
          <p:cNvSpPr/>
          <p:nvPr/>
        </p:nvSpPr>
        <p:spPr>
          <a:xfrm>
            <a:off x="749808" y="4443984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4398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334256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Demand error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4334256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389120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content solves no real job</a:t>
            </a:r>
          </a:p>
        </p:txBody>
      </p:sp>
      <p:sp>
        <p:nvSpPr>
          <p:cNvPr id="30" name="Oval 29"/>
          <p:cNvSpPr/>
          <p:nvPr/>
        </p:nvSpPr>
        <p:spPr>
          <a:xfrm>
            <a:off x="749808" y="5303520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03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193792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Product error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3552" y="5193792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248656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offer does not fit audience</a:t>
            </a:r>
          </a:p>
        </p:txBody>
      </p:sp>
    </p:spTree>
  </p:cSld>
  <p:clrMapOvr>
    <a:masterClrMapping/>
  </p:clrMapOvr>
  <p:transition spd="fast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FAILURE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Skill and Connector Controls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72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1865376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755648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Overbroad trigger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Skill runs on unrelated tasks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2724912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2491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615184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Hidden write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2615184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670048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connector changes external state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584448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8444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474720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Prompt injection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3474720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529584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source text overrides workflow</a:t>
            </a:r>
          </a:p>
        </p:txBody>
      </p:sp>
      <p:sp>
        <p:nvSpPr>
          <p:cNvPr id="25" name="Oval 24"/>
          <p:cNvSpPr/>
          <p:nvPr/>
        </p:nvSpPr>
        <p:spPr>
          <a:xfrm>
            <a:off x="749808" y="4443984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4398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334256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Secret exposure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4334256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389120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token appears in output</a:t>
            </a:r>
          </a:p>
        </p:txBody>
      </p:sp>
      <p:sp>
        <p:nvSpPr>
          <p:cNvPr id="30" name="Oval 29"/>
          <p:cNvSpPr/>
          <p:nvPr/>
        </p:nvSpPr>
        <p:spPr>
          <a:xfrm>
            <a:off x="749808" y="5303520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03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193792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No version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3552" y="5193792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248656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method changes without review</a:t>
            </a:r>
          </a:p>
        </p:txBody>
      </p:sp>
    </p:spTree>
  </p:cSld>
  <p:clrMapOvr>
    <a:masterClrMapping/>
  </p:clrMapOvr>
  <p:transition spd="fast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LO1 Evidence Bundle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73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offer economics model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dated trend evidence cards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source allow-list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custom research Skill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product update brief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0624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0624" y="4041648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41792" y="4261104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41792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3856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0936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human approval record</a:t>
            </a:r>
          </a:p>
        </p:txBody>
      </p:sp>
    </p:spTree>
  </p:cSld>
  <p:clrMapOvr>
    <a:masterClrMapping/>
  </p:clrMapOvr>
  <p:transition spd="fast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Ebook Foundation Trace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74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product and niche criteria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EPC and conversion tracking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review-writing structure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SEO, email, social and video channels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branding and audience fit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0624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0624" y="4041648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41792" y="4261104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41792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3856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0936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spam and traffic-quality mistakes</a:t>
            </a:r>
          </a:p>
        </p:txBody>
      </p:sp>
    </p:spTree>
  </p:cSld>
  <p:clrMapOvr>
    <a:masterClrMapping/>
  </p:clrMapOvr>
  <p:transition spd="fast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LAB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21201C"/>
                </a:solidFill>
                <a:latin typeface="Cambria"/>
              </a:rPr>
              <a:t>Affiliate Offer Economics and Niche Fit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6B6862"/>
                </a:solidFill>
                <a:latin typeface="Calibri"/>
              </a:rPr>
              <a:t>LO1 | K1, K5, K6 · 75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731520"/>
            <a:ext cx="18288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B9B4A9"/>
                </a:solidFill>
                <a:latin typeface="Cambr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75</a:t>
            </a:r>
          </a:p>
        </p:txBody>
      </p:sp>
    </p:spTree>
  </p:cSld>
  <p:clrMapOvr>
    <a:masterClrMapping/>
  </p:clrMapOvr>
  <p:transition spd="med">
    <p:push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PRACTICE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1 Scenario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76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Business need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Evaluate three retail and hospitality offers using the ebook-derived product criteria, current evidence, EPC, conversion, reversal and break-even models.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Deliverable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 source-backed offer scorecard and deterministic economics report.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Tool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Claude Cowork, spreadsheet/CSV, Python calculator, supplied product evidence</a:t>
            </a:r>
          </a:p>
        </p:txBody>
      </p:sp>
    </p:spTree>
  </p:cSld>
  <p:clrMapOvr>
    <a:masterClrMapping/>
  </p:clrMapOvr>
  <p:transition spd="fast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HOW THE WORKFLOW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1 Runtime Mechanism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77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Load offer and traffic assumptions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Validate denominators and dates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Calculate EPC, CVR and break-even CPC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Apply non-compensable fit and policy gates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Human selects one pilot offer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WHAT MUST REMAIN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1 Concrete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unique clicks are the EPC denominator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approved conversions exclude reversals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commission terms are effective-dated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every qualitative score cites evidence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hard policy gates run before ranking</a:t>
            </a:r>
          </a:p>
        </p:txBody>
      </p:sp>
    </p:spTree>
  </p:cSld>
  <p:clrMapOvr>
    <a:masterClrMapping/>
  </p:clrMapOvr>
  <p:transition spd="fast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WHAT TO CAPTURE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1 Evidence Package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79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completed offer-inputs.csv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offer-economics-report.md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source notes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selected offer and rationale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one rejected offer with gate reason</a:t>
            </a:r>
          </a:p>
        </p:txBody>
      </p:sp>
    </p:spTree>
  </p:cSld>
  <p:clrMapOvr>
    <a:masterClrMapping/>
  </p:clrMapOvr>
  <p:transition spd="fast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TEST WITHOUT CLICK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1 Verification and 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80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Accept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all numeric metrics recompute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46329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46329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39928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source dates recorded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18338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833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1193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hard gates applied before ranking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90347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90347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83946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pilot has CPC ceiling</a:t>
            </a:r>
          </a:p>
        </p:txBody>
      </p:sp>
      <p:sp>
        <p:nvSpPr>
          <p:cNvPr id="25" name="Oval 24"/>
          <p:cNvSpPr/>
          <p:nvPr/>
        </p:nvSpPr>
        <p:spPr>
          <a:xfrm>
            <a:off x="950976" y="56235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6235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81328" y="55595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no unsupported claim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Diagnose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missing denominator blocks calculation</a:t>
            </a:r>
          </a:p>
        </p:txBody>
      </p:sp>
      <p:sp>
        <p:nvSpPr>
          <p:cNvPr id="34" name="Oval 33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stale product evidence lowers confidence</a:t>
            </a:r>
          </a:p>
        </p:txBody>
      </p:sp>
      <p:sp>
        <p:nvSpPr>
          <p:cNvPr id="37" name="Oval 36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high rate cannot offset poor audience fit</a:t>
            </a:r>
          </a:p>
        </p:txBody>
      </p:sp>
      <p:sp>
        <p:nvSpPr>
          <p:cNvPr id="40" name="Oval 39"/>
          <p:cNvSpPr/>
          <p:nvPr/>
        </p:nvSpPr>
        <p:spPr>
          <a:xfrm>
            <a:off x="6556248" y="521208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56248" y="52120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51480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negative margin rejects paid traffic</a:t>
            </a:r>
          </a:p>
        </p:txBody>
      </p:sp>
    </p:spTree>
  </p:cSld>
  <p:clrMapOvr>
    <a:masterClrMapping/>
  </p:clrMapOvr>
  <p:transition spd="fast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LAB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21201C"/>
                </a:solidFill>
                <a:latin typeface="Cambria"/>
              </a:rPr>
              <a:t>Trend Monitor and Product Update Skill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6B6862"/>
                </a:solidFill>
                <a:latin typeface="Calibri"/>
              </a:rPr>
              <a:t>LO1 | A1, A5 · 90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731520"/>
            <a:ext cx="18288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B9B4A9"/>
                </a:solidFill>
                <a:latin typeface="Cambr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81</a:t>
            </a:r>
          </a:p>
        </p:txBody>
      </p:sp>
    </p:spTree>
  </p:cSld>
  <p:clrMapOvr>
    <a:masterClrMapping/>
  </p:clrMapOvr>
  <p:transition spd="med">
    <p:push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PRACTICE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2 Scenario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82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Business need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Create a reusable Claude Skill that turns approved trend signals and product changes into evidence cards and a reviewed affiliate update.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Deliverable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 packaged custom Skill, trend evidence set and versioned product-update brief.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Tool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Claude Cowork, custom Skills, approved web sources, Markdown templates</a:t>
            </a:r>
          </a:p>
        </p:txBody>
      </p:sp>
    </p:spTree>
  </p:cSld>
  <p:clrMapOvr>
    <a:masterClrMapping/>
  </p:clrMapOvr>
  <p:transition spd="fast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HOW THE WORKFLOW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2 Runtime Mechanism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83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Skill receives bounded source folder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Evidence cards separate observation and inference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Product diff identifies partner impact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Validator checks source/date/disclosure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Human approves exact message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WHAT MUST REMAIN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2 Concrete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84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Skill trigger is narrow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every observation has source and date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product facts come from approved catalogue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inference is labelled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outbound update requires human approval</a:t>
            </a:r>
          </a:p>
        </p:txBody>
      </p:sp>
    </p:spTree>
  </p:cSld>
  <p:clrMapOvr>
    <a:masterClrMapping/>
  </p:clrMapOvr>
  <p:transition spd="fast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WHAT TO CAPTURE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2 Evidence Package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85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skills/affiliate-trend-update/SKILL.md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completed evidence cards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product diff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approved partner update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validator result</a:t>
            </a:r>
          </a:p>
        </p:txBody>
      </p:sp>
    </p:spTree>
  </p:cSld>
  <p:clrMapOvr>
    <a:masterClrMapping/>
  </p:clrMapOvr>
  <p:transition spd="fast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TEST WITHOUT CLICK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2 Verification and 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86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Accept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Skill package is valid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46329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46329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39928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sources and dates present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18338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833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1193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fact and inference separated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90347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90347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83946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product impact explicit</a:t>
            </a:r>
          </a:p>
        </p:txBody>
      </p:sp>
      <p:sp>
        <p:nvSpPr>
          <p:cNvPr id="25" name="Oval 24"/>
          <p:cNvSpPr/>
          <p:nvPr/>
        </p:nvSpPr>
        <p:spPr>
          <a:xfrm>
            <a:off x="950976" y="56235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6235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81328" y="55595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human approval recorded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Diagnose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single-source trend remains low confidence</a:t>
            </a:r>
          </a:p>
        </p:txBody>
      </p:sp>
      <p:sp>
        <p:nvSpPr>
          <p:cNvPr id="34" name="Oval 33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missing effective date blocks product update</a:t>
            </a:r>
          </a:p>
        </p:txBody>
      </p:sp>
      <p:sp>
        <p:nvSpPr>
          <p:cNvPr id="37" name="Oval 36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unsupported claim returns to research</a:t>
            </a:r>
          </a:p>
        </p:txBody>
      </p:sp>
      <p:sp>
        <p:nvSpPr>
          <p:cNvPr id="40" name="Oval 39"/>
          <p:cNvSpPr/>
          <p:nvPr/>
        </p:nvSpPr>
        <p:spPr>
          <a:xfrm>
            <a:off x="6556248" y="521208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56248" y="52120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51480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prompt injection text is treated as data</a:t>
            </a:r>
          </a:p>
        </p:txBody>
      </p:sp>
    </p:spTree>
  </p:cSld>
  <p:clrMapOvr>
    <a:masterClrMapping/>
  </p:clrMapOvr>
  <p:transition spd="fast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TOPIC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21201C"/>
                </a:solidFill>
                <a:latin typeface="Cambria"/>
              </a:rPr>
              <a:t>Affiliate Portfolio and Partner Coordination with Skills and 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6B6862"/>
                </a:solidFill>
                <a:latin typeface="Calibri"/>
              </a:rPr>
              <a:t>Partner discovery -&gt; due diligence -&gt; scoring -&gt; portfolio balance -&gt; coordinated communication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731520"/>
            <a:ext cx="18288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B9B4A9"/>
                </a:solidFill>
                <a:latin typeface="Cambr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87</a:t>
            </a:r>
          </a:p>
        </p:txBody>
      </p:sp>
    </p:spTree>
  </p:cSld>
  <p:clrMapOvr>
    <a:masterClrMapping/>
  </p:clrMapOvr>
  <p:transition spd="med">
    <p:push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LO2 | K2, K3, K7 | A2,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Topic 02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88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Mechanism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Define partner-fit evidence before allowing an agent to rank candidates.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5916" y="1700784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5916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87084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7084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9148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Mechanism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Use MCP connectors as permissioned data boundaries, not invisible sources of truth.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4041648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5024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Mechanism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Build a portfolio that balances reach, relevance, conversion quality and concentration risk.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5916" y="4041648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85916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87084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7084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9148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Mechanism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6228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Coordinate partners through versioned briefs, service levels, escalation and audit evidence.</a:t>
            </a:r>
          </a:p>
        </p:txBody>
      </p:sp>
    </p:spTree>
  </p:cSld>
  <p:clrMapOvr>
    <a:masterClrMapping/>
  </p:clrMapOvr>
  <p:transition spd="fast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VISUAL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Partner Research Becomes a Governed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89</a:t>
            </a:r>
          </a:p>
        </p:txBody>
      </p:sp>
      <p:pic>
        <p:nvPicPr>
          <p:cNvPr id="10" name="Picture 9" descr="affiliate-research-agents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55648"/>
            <a:ext cx="8001000" cy="444398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87968" y="1783080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887968" y="1783080"/>
            <a:ext cx="64008" cy="758952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89136" y="1856232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3A7D7B"/>
                </a:solidFill>
                <a:latin typeface="Calibri"/>
              </a:rPr>
              <a:t>Discover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bounded candidate universe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87968" y="2633472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87968" y="2633472"/>
            <a:ext cx="64008" cy="758952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2706624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B5483A"/>
                </a:solidFill>
                <a:latin typeface="Calibri"/>
              </a:rPr>
              <a:t>Verify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identity and audience evidence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87968" y="3483864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87968" y="3483864"/>
            <a:ext cx="64008" cy="758952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9136" y="3557016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C88A2E"/>
                </a:solidFill>
                <a:latin typeface="Calibri"/>
              </a:rPr>
              <a:t>Score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transparent criteria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87968" y="4334256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87968" y="4334256"/>
            <a:ext cx="64008" cy="758952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89136" y="4407408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Balance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reach and concentration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87968" y="5184648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87968" y="5184648"/>
            <a:ext cx="64008" cy="758952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89136" y="5257800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3A7D7B"/>
                </a:solidFill>
                <a:latin typeface="Calibri"/>
              </a:rPr>
              <a:t>Coordinate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briefs, cadence and escalation</a:t>
            </a:r>
          </a:p>
        </p:txBody>
      </p:sp>
    </p:spTree>
  </p:cSld>
  <p:clrMapOvr>
    <a:masterClrMapping/>
  </p:clrMapOvr>
  <p:transition spd="fast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Partner Discovery Runtime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90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Define partner archetype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Search approved sources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Capture candidate facts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Verify identity and audience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Queue for 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Due-Diligence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91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Identity check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Content and audience review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Engagement quality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Policy and reputation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Commercial references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MCP Connector Boundary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92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User grants permission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Client calls named tool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Server reads approved system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Result returns with provenance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Agent cannot exceed 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Candidate Scoring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93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Validate evidence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Normalise metrics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Apply weighted criteria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Enforce hard gates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Human approves shortlist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Portfolio Construction 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94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Set strategic roles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Allocate target mix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Recruit candidates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Measure contribution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Rebalance intentionally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Partner Onboarding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95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Approve terms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Issue partner ID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Deliver versioned kit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Confirm disclosure and tracking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Activate after 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Communication Control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96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Segment partner tier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Set cadence and SLA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Send approved brief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Capture response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Escalate and close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Affiliate Candidate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97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partner_id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stable internal key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identity_urls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verified public identities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audience_profile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region, need and channel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engagement_evidence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dated sample and denominator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policy_flags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disclosure and brand risks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source_ids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traceable background evidence</a:t>
            </a:r>
          </a:p>
        </p:txBody>
      </p:sp>
    </p:spTree>
  </p:cSld>
  <p:clrMapOvr>
    <a:masterClrMapping/>
  </p:clrMapOvr>
  <p:transition spd="fast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Partner Scorecard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98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criterion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named decision dimension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weight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sums to 100%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raw_evidence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source-backed input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normalised_score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0-100 scale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hard_gate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non-compensable threshold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reviewer_note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human rationale</a:t>
            </a:r>
          </a:p>
        </p:txBody>
      </p:sp>
    </p:spTree>
  </p:cSld>
  <p:clrMapOvr>
    <a:masterClrMapping/>
  </p:clrMapOvr>
  <p:transition spd="fast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Portfolio Role Taxonomy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99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role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reach | authority | conversion | retention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channel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site, email, social, video or community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audience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priority segment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offer_fit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approved product family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risk_tier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monitoring depth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capacity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campaign and content limit</a:t>
            </a:r>
          </a:p>
        </p:txBody>
      </p:sp>
    </p:spTree>
  </p:cSld>
  <p:clrMapOvr>
    <a:masterClrMapping/>
  </p:clrMapOvr>
  <p:transition spd="fast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Partner Brief Schema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campaign_id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links work to strategy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partner_id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intended recipient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product_version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approved offer facts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mandatory_claims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must-use verified statements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prohibited_claims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cannot publish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tracking_url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unique attribution key</a:t>
            </a:r>
          </a:p>
        </p:txBody>
      </p:sp>
    </p:spTree>
  </p:cSld>
  <p:clrMapOvr>
    <a:masterClrMapping/>
  </p:clrMapOvr>
  <p:transition spd="fast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Communication SLA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tier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strategic | growth | standard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routine_cadence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planned update frequency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response_target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business-hour commitment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escalation_owner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named accountable person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channel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approved contact route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message and outcome record</a:t>
            </a:r>
          </a:p>
        </p:txBody>
      </p:sp>
    </p:spTree>
  </p:cSld>
  <p:clrMapOvr>
    <a:masterClrMapping/>
  </p:clrMapOvr>
  <p:transition spd="fast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Partner Update 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event_id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deduplication key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partner_id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recipient identity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message_version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exact approved content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sent_at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timestamp and timezone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acknowledged_at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nullable response time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next_action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owner and due date</a:t>
            </a:r>
          </a:p>
        </p:txBody>
      </p:sp>
    </p:spTree>
  </p:cSld>
  <p:clrMapOvr>
    <a:masterClrMapping/>
  </p:clrMapOvr>
  <p:transition spd="fast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Weighted Partner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Score = sum(weight x criterion score)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0.30x88 + 0.25x76 + 0.20x92 + 0.15x80 + 0.10x70 = 82.8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Apply hard gates before ranking; a policy failure must not be averaged away.</a:t>
            </a:r>
          </a:p>
        </p:txBody>
      </p:sp>
    </p:spTree>
  </p:cSld>
  <p:clrMapOvr>
    <a:masterClrMapping/>
  </p:clrMapOvr>
  <p:transition spd="fast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Engagement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Engagement rate = meaningful interactions / reachable audience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1,260 interactions / 42,000 reachable followers = 3.0%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Define meaningful interaction and use a recent sample, not lifetime vanity totals.</a:t>
            </a:r>
          </a:p>
        </p:txBody>
      </p:sp>
    </p:spTree>
  </p:cSld>
  <p:clrMapOvr>
    <a:masterClrMapping/>
  </p:clrMapOvr>
  <p:transition spd="fast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Portfolio Concentration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Top-3 share = revenue from top 3 partners / total affiliate revenue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$42,000 / $60,000 = 70%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A high top-3 share increases outage and negotiation risk even when current ROI is strong.</a:t>
            </a:r>
          </a:p>
        </p:txBody>
      </p:sp>
    </p:spTree>
  </p:cSld>
  <p:clrMapOvr>
    <a:masterClrMapping/>
  </p:clrMapOvr>
  <p:transition spd="fast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Response SLA Attainment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SLA attainment = responses within target / support requests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87 / 100 = 87%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Segment by partner tier; a blended result can hide failure for strategic partners.</a:t>
            </a:r>
          </a:p>
        </p:txBody>
      </p:sp>
    </p:spTree>
  </p:cSld>
  <p:clrMapOvr>
    <a:masterClrMapping/>
  </p:clrMapOvr>
  <p:transition spd="fast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Partner Retention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Retention = active partners at end who were active at start / active partners at start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42 / 50 = 84%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Exclude newly recruited partners from the retention numerator and denominator.</a:t>
            </a:r>
          </a:p>
        </p:txBody>
      </p:sp>
    </p:spTree>
  </p:cSld>
  <p:clrMapOvr>
    <a:masterClrMapping/>
  </p:clrMapOvr>
  <p:transition spd="fast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Reach vs Relevance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Reach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Large potential audience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Useful for awareness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May dilute intent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Relevance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Strong problem-offer fit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Smaller but qualified audience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Often better conversion quality</a:t>
            </a:r>
          </a:p>
        </p:txBody>
      </p:sp>
    </p:spTree>
  </p:cSld>
  <p:clrMapOvr>
    <a:masterClrMapping/>
  </p:clrMapOvr>
  <p:transition spd="fast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Follower Count vs Engagement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Follower count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Easy to collect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May include inactive or bought accounts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Weak behavioural proof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Engagement evidence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Sampled denominator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Comment and click quality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More predictive when current</a:t>
            </a:r>
          </a:p>
        </p:txBody>
      </p:sp>
    </p:spTree>
  </p:cSld>
  <p:clrMapOvr>
    <a:masterClrMapping/>
  </p:clrMapOvr>
  <p:transition spd="fast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Single-Star vs Portfolio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Single star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Fast coordination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High concentration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One voice and channel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Portfolio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Diversified audience and channel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Higher operating complexity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Needs role and capacity design</a:t>
            </a:r>
          </a:p>
        </p:txBody>
      </p:sp>
    </p:spTree>
  </p:cSld>
  <p:clrMapOvr>
    <a:masterClrMapping/>
  </p:clrMapOvr>
  <p:transition spd="fast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Direct Outreach vs Network Recruitment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Direct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Custom terms and relationship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Higher research effort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Rich strategic fit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Network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Faster candidate access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Standardised tracking and payout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Less direct ownership</a:t>
            </a:r>
          </a:p>
        </p:txBody>
      </p:sp>
    </p:spTree>
  </p:cSld>
  <p:clrMapOvr>
    <a:masterClrMapping/>
  </p:clrMapOvr>
  <p:transition spd="fast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Strategic vs Standard Partner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Strategic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Joint plan and frequent review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Custom assets and escalation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High expected contribution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Standard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Scalable portal and templates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Defined response SLA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Lower account-management cost</a:t>
            </a:r>
          </a:p>
        </p:txBody>
      </p:sp>
    </p:spTree>
  </p:cSld>
  <p:clrMapOvr>
    <a:masterClrMapping/>
  </p:clrMapOvr>
  <p:transition spd="fast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Read-Only vs Write-Capable Connector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Read-only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Research and retrieval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Lower blast radius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Default for discovery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Write-capable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Messages or record updates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Requires preview and approval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Narrow fields and allow-lists</a:t>
            </a:r>
          </a:p>
        </p:txBody>
      </p:sp>
    </p:spTree>
  </p:cSld>
  <p:clrMapOvr>
    <a:masterClrMapping/>
  </p:clrMapOvr>
  <p:transition spd="fast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Agent Recommendation vs Human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Agent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Synthesises evidence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Applies transparent score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Surfaces uncertainty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Human owner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Judges brand and relationship context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Accepts trade-offs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Owns invitation and terms</a:t>
            </a:r>
          </a:p>
        </p:txBody>
      </p:sp>
    </p:spTree>
  </p:cSld>
  <p:clrMapOvr>
    <a:masterClrMapping/>
  </p:clrMapOvr>
  <p:transition spd="fast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Candidate Fit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115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Community C leads on fit; the next step is due diligence, not automatic recruitment.</a:t>
            </a:r>
          </a:p>
        </p:txBody>
      </p:sp>
    </p:spTree>
  </p:cSld>
  <p:clrMapOvr>
    <a:masterClrMapping/>
  </p:clrMapOvr>
  <p:transition spd="fast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Portfolio Mix by Role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116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The current portfolio overweights reach and underinvests in retention partners.</a:t>
            </a:r>
          </a:p>
        </p:txBody>
      </p:sp>
    </p:spTree>
  </p:cSld>
  <p:clrMapOvr>
    <a:masterClrMapping/>
  </p:clrMapOvr>
  <p:transition spd="fast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Revenue Concentration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117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Seventy percent from three partners warrants continuity planning and controlled diversification.</a:t>
            </a:r>
          </a:p>
        </p:txBody>
      </p:sp>
    </p:spTree>
  </p:cSld>
  <p:clrMapOvr>
    <a:masterClrMapping/>
  </p:clrMapOvr>
  <p:transition spd="fast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Communication SLA by 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118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The scalable standard tier needs better self-service material or routing.</a:t>
            </a:r>
          </a:p>
        </p:txBody>
      </p:sp>
    </p:spTree>
  </p:cSld>
  <p:clrMapOvr>
    <a:masterClrMapping/>
  </p:clrMapOvr>
  <p:transition spd="fast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DECISION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Shortlist a Candidate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119</a:t>
            </a:r>
          </a:p>
        </p:txBody>
      </p:sp>
      <p:sp>
        <p:nvSpPr>
          <p:cNvPr id="10" name="Diamond 9"/>
          <p:cNvSpPr/>
          <p:nvPr/>
        </p:nvSpPr>
        <p:spPr>
          <a:xfrm>
            <a:off x="4434840" y="1874519"/>
            <a:ext cx="3246120" cy="2148840"/>
          </a:xfrm>
          <a:prstGeom prst="diamond">
            <a:avLst/>
          </a:prstGeom>
          <a:solidFill>
            <a:srgbClr val="FBE9E4"/>
          </a:solidFill>
          <a:ln w="254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12848"/>
            <a:ext cx="2514600" cy="12801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Are identity, audience, engagement, policy and commercial evidence complete and above hard gates?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343400"/>
            <a:ext cx="4983480" cy="1097280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YES · </a:t>
            </a:r>
            <a:r>
              <a:rPr sz="1350" b="0">
                <a:solidFill>
                  <a:srgbClr val="21201C"/>
                </a:solidFill>
                <a:latin typeface="Calibri"/>
              </a:rPr>
              <a:t>Add to human review with score and source bundle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343400"/>
            <a:ext cx="4983480" cy="1097280"/>
          </a:xfrm>
          <a:prstGeom prst="roundRect">
            <a:avLst/>
          </a:prstGeom>
          <a:solidFill>
            <a:srgbClr val="FB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5483A"/>
                </a:solidFill>
                <a:latin typeface="Calibri"/>
              </a:rPr>
              <a:t>NO · </a:t>
            </a:r>
            <a:r>
              <a:rPr sz="1350" b="0">
                <a:solidFill>
                  <a:srgbClr val="21201C"/>
                </a:solidFill>
                <a:latin typeface="Calibri"/>
              </a:rPr>
              <a:t>Reject or hold; never invent missing background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200400" y="3749039"/>
            <a:ext cx="1828800" cy="594361"/>
          </a:xfrm>
          <a:prstGeom prst="bentConnector3">
            <a:avLst/>
          </a:prstGeom>
          <a:ln w="254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78040" y="3749039"/>
            <a:ext cx="1783080" cy="594361"/>
          </a:xfrm>
          <a:prstGeom prst="bentConnector3">
            <a:avLst/>
          </a:prstGeom>
          <a:ln w="2540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DECISION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Add a Portfolio Partner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120</a:t>
            </a:r>
          </a:p>
        </p:txBody>
      </p:sp>
      <p:sp>
        <p:nvSpPr>
          <p:cNvPr id="10" name="Diamond 9"/>
          <p:cNvSpPr/>
          <p:nvPr/>
        </p:nvSpPr>
        <p:spPr>
          <a:xfrm>
            <a:off x="4434840" y="1874519"/>
            <a:ext cx="3246120" cy="2148840"/>
          </a:xfrm>
          <a:prstGeom prst="diamond">
            <a:avLst/>
          </a:prstGeom>
          <a:solidFill>
            <a:srgbClr val="FBE9E4"/>
          </a:solidFill>
          <a:ln w="254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12848"/>
            <a:ext cx="2514600" cy="12801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Does the candidate fill a strategic role without breaching concentration or capacity limits?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343400"/>
            <a:ext cx="4983480" cy="1097280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YES · </a:t>
            </a:r>
            <a:r>
              <a:rPr sz="1350" b="0">
                <a:solidFill>
                  <a:srgbClr val="21201C"/>
                </a:solidFill>
                <a:latin typeface="Calibri"/>
              </a:rPr>
              <a:t>Approve a bounded onboarding pilot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343400"/>
            <a:ext cx="4983480" cy="1097280"/>
          </a:xfrm>
          <a:prstGeom prst="roundRect">
            <a:avLst/>
          </a:prstGeom>
          <a:solidFill>
            <a:srgbClr val="FB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5483A"/>
                </a:solidFill>
                <a:latin typeface="Calibri"/>
              </a:rPr>
              <a:t>NO · </a:t>
            </a:r>
            <a:r>
              <a:rPr sz="1350" b="0">
                <a:solidFill>
                  <a:srgbClr val="21201C"/>
                </a:solidFill>
                <a:latin typeface="Calibri"/>
              </a:rPr>
              <a:t>Keep in reserve or recruit for a missing role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200400" y="3749039"/>
            <a:ext cx="1828800" cy="594361"/>
          </a:xfrm>
          <a:prstGeom prst="bentConnector3">
            <a:avLst/>
          </a:prstGeom>
          <a:ln w="254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78040" y="3749039"/>
            <a:ext cx="1783080" cy="594361"/>
          </a:xfrm>
          <a:prstGeom prst="bentConnector3">
            <a:avLst/>
          </a:prstGeom>
          <a:ln w="2540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DECISION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Send a Partner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121</a:t>
            </a:r>
          </a:p>
        </p:txBody>
      </p:sp>
      <p:sp>
        <p:nvSpPr>
          <p:cNvPr id="10" name="Diamond 9"/>
          <p:cNvSpPr/>
          <p:nvPr/>
        </p:nvSpPr>
        <p:spPr>
          <a:xfrm>
            <a:off x="4434840" y="1874519"/>
            <a:ext cx="3246120" cy="2148840"/>
          </a:xfrm>
          <a:prstGeom prst="diamond">
            <a:avLst/>
          </a:prstGeom>
          <a:solidFill>
            <a:srgbClr val="FBE9E4"/>
          </a:solidFill>
          <a:ln w="254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12848"/>
            <a:ext cx="2514600" cy="12801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Does the message match the approved brief, product version, disclosure and recipient tier?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343400"/>
            <a:ext cx="4983480" cy="1097280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YES · </a:t>
            </a:r>
            <a:r>
              <a:rPr sz="1350" b="0">
                <a:solidFill>
                  <a:srgbClr val="21201C"/>
                </a:solidFill>
                <a:latin typeface="Calibri"/>
              </a:rPr>
              <a:t>Release through the authorised channel and log the event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343400"/>
            <a:ext cx="4983480" cy="1097280"/>
          </a:xfrm>
          <a:prstGeom prst="roundRect">
            <a:avLst/>
          </a:prstGeom>
          <a:solidFill>
            <a:srgbClr val="FB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5483A"/>
                </a:solidFill>
                <a:latin typeface="Calibri"/>
              </a:rPr>
              <a:t>NO · </a:t>
            </a:r>
            <a:r>
              <a:rPr sz="1350" b="0">
                <a:solidFill>
                  <a:srgbClr val="21201C"/>
                </a:solidFill>
                <a:latin typeface="Calibri"/>
              </a:rPr>
              <a:t>Block and return to the owner with exact differences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200400" y="3749039"/>
            <a:ext cx="1828800" cy="594361"/>
          </a:xfrm>
          <a:prstGeom prst="bentConnector3">
            <a:avLst/>
          </a:prstGeom>
          <a:ln w="254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78040" y="3749039"/>
            <a:ext cx="1783080" cy="594361"/>
          </a:xfrm>
          <a:prstGeom prst="bentConnector3">
            <a:avLst/>
          </a:prstGeom>
          <a:ln w="2540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DECISION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Escalate a Partner Issue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122</a:t>
            </a:r>
          </a:p>
        </p:txBody>
      </p:sp>
      <p:sp>
        <p:nvSpPr>
          <p:cNvPr id="10" name="Diamond 9"/>
          <p:cNvSpPr/>
          <p:nvPr/>
        </p:nvSpPr>
        <p:spPr>
          <a:xfrm>
            <a:off x="4434840" y="1874519"/>
            <a:ext cx="3246120" cy="2148840"/>
          </a:xfrm>
          <a:prstGeom prst="diamond">
            <a:avLst/>
          </a:prstGeom>
          <a:solidFill>
            <a:srgbClr val="FBE9E4"/>
          </a:solidFill>
          <a:ln w="254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12848"/>
            <a:ext cx="2514600" cy="12801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Does the issue exceed SLA, policy or commercial-risk thresholds?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343400"/>
            <a:ext cx="4983480" cy="1097280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YES · </a:t>
            </a:r>
            <a:r>
              <a:rPr sz="1350" b="0">
                <a:solidFill>
                  <a:srgbClr val="21201C"/>
                </a:solidFill>
                <a:latin typeface="Calibri"/>
              </a:rPr>
              <a:t>Route to the named owner with evidence and due 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343400"/>
            <a:ext cx="4983480" cy="1097280"/>
          </a:xfrm>
          <a:prstGeom prst="roundRect">
            <a:avLst/>
          </a:prstGeom>
          <a:solidFill>
            <a:srgbClr val="FB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5483A"/>
                </a:solidFill>
                <a:latin typeface="Calibri"/>
              </a:rPr>
              <a:t>NO · </a:t>
            </a:r>
            <a:r>
              <a:rPr sz="1350" b="0">
                <a:solidFill>
                  <a:srgbClr val="21201C"/>
                </a:solidFill>
                <a:latin typeface="Calibri"/>
              </a:rPr>
              <a:t>Resolve through the standard support path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200400" y="3749039"/>
            <a:ext cx="1828800" cy="594361"/>
          </a:xfrm>
          <a:prstGeom prst="bentConnector3">
            <a:avLst/>
          </a:prstGeom>
          <a:ln w="254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78040" y="3749039"/>
            <a:ext cx="1783080" cy="594361"/>
          </a:xfrm>
          <a:prstGeom prst="bentConnector3">
            <a:avLst/>
          </a:prstGeom>
          <a:ln w="2540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FAILURE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Due-Diligence Failure Modes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123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1865376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755648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Identity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impersonation or unverifiable ownership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2724912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2491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615184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Audience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2615184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670048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mismatch, bots or stale followers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584448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8444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474720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Content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3474720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529584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unsafe claims or weak disclosure</a:t>
            </a:r>
          </a:p>
        </p:txBody>
      </p:sp>
      <p:sp>
        <p:nvSpPr>
          <p:cNvPr id="25" name="Oval 24"/>
          <p:cNvSpPr/>
          <p:nvPr/>
        </p:nvSpPr>
        <p:spPr>
          <a:xfrm>
            <a:off x="749808" y="4443984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4398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334256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Reputation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4334256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389120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undisclosed conflicts or complaints</a:t>
            </a:r>
          </a:p>
        </p:txBody>
      </p:sp>
      <p:sp>
        <p:nvSpPr>
          <p:cNvPr id="30" name="Oval 29"/>
          <p:cNvSpPr/>
          <p:nvPr/>
        </p:nvSpPr>
        <p:spPr>
          <a:xfrm>
            <a:off x="749808" y="5303520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03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193792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Commercial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3552" y="5193792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248656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unverified results or reference gaps</a:t>
            </a:r>
          </a:p>
        </p:txBody>
      </p:sp>
    </p:spTree>
  </p:cSld>
  <p:clrMapOvr>
    <a:masterClrMapping/>
  </p:clrMapOvr>
  <p:transition spd="fast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FAILURE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Portfolio Failure Modes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124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1865376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755648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Concentration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revenue depends on few partners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2724912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2491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615184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Duplication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2615184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670048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many partners reach the same audience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584448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8444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474720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Role gap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3474720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529584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no authority or retention partner</a:t>
            </a:r>
          </a:p>
        </p:txBody>
      </p:sp>
      <p:sp>
        <p:nvSpPr>
          <p:cNvPr id="25" name="Oval 24"/>
          <p:cNvSpPr/>
          <p:nvPr/>
        </p:nvSpPr>
        <p:spPr>
          <a:xfrm>
            <a:off x="749808" y="4443984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4398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334256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Capacity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4334256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389120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team cannot support recruited volume</a:t>
            </a:r>
          </a:p>
        </p:txBody>
      </p:sp>
      <p:sp>
        <p:nvSpPr>
          <p:cNvPr id="30" name="Oval 29"/>
          <p:cNvSpPr/>
          <p:nvPr/>
        </p:nvSpPr>
        <p:spPr>
          <a:xfrm>
            <a:off x="749808" y="5303520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03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193792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Cannibalisation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3552" y="5193792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248656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discounting shifts existing customers</a:t>
            </a:r>
          </a:p>
        </p:txBody>
      </p:sp>
    </p:spTree>
  </p:cSld>
  <p:clrMapOvr>
    <a:masterClrMapping/>
  </p:clrMapOvr>
  <p:transition spd="fast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FAILURE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Communication Failure Modes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125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1865376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755648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Version drift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old offer or assets stay live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2724912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2491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615184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Channel sprawl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2615184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670048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messages cannot be audited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584448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8444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474720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SLA opacity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3474720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529584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partners do not know response time</a:t>
            </a:r>
          </a:p>
        </p:txBody>
      </p:sp>
      <p:sp>
        <p:nvSpPr>
          <p:cNvPr id="25" name="Oval 24"/>
          <p:cNvSpPr/>
          <p:nvPr/>
        </p:nvSpPr>
        <p:spPr>
          <a:xfrm>
            <a:off x="749808" y="4443984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4398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334256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Agent overreach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4334256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389120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unapproved promise or term</a:t>
            </a:r>
          </a:p>
        </p:txBody>
      </p:sp>
      <p:sp>
        <p:nvSpPr>
          <p:cNvPr id="30" name="Oval 29"/>
          <p:cNvSpPr/>
          <p:nvPr/>
        </p:nvSpPr>
        <p:spPr>
          <a:xfrm>
            <a:off x="749808" y="5303520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03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193792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No closure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3552" y="5193792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248656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issues lack owner and outcome</a:t>
            </a:r>
          </a:p>
        </p:txBody>
      </p:sp>
    </p:spTree>
  </p:cSld>
  <p:clrMapOvr>
    <a:masterClrMapping/>
  </p:clrMapOvr>
  <p:transition spd="fast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FAILURE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MCP and Research Controls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126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1865376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755648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Excess scope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connector sees unrelated records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2724912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2491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615184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Prompt injection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2615184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670048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candidate page redirects agent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584448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8444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474720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Source mix-up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3474720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529584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facts attached to wrong partner</a:t>
            </a:r>
          </a:p>
        </p:txBody>
      </p:sp>
      <p:sp>
        <p:nvSpPr>
          <p:cNvPr id="25" name="Oval 24"/>
          <p:cNvSpPr/>
          <p:nvPr/>
        </p:nvSpPr>
        <p:spPr>
          <a:xfrm>
            <a:off x="749808" y="4443984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4398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334256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No audit ID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4334256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389120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retrieval cannot be reproduced</a:t>
            </a:r>
          </a:p>
        </p:txBody>
      </p:sp>
      <p:sp>
        <p:nvSpPr>
          <p:cNvPr id="30" name="Oval 29"/>
          <p:cNvSpPr/>
          <p:nvPr/>
        </p:nvSpPr>
        <p:spPr>
          <a:xfrm>
            <a:off x="749808" y="5303520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03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193792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Write surprise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3552" y="5193792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248656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research tool changes external state</a:t>
            </a:r>
          </a:p>
        </p:txBody>
      </p:sp>
    </p:spTree>
  </p:cSld>
  <p:clrMapOvr>
    <a:masterClrMapping/>
  </p:clrMapOvr>
  <p:transition spd="fast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LO2 Evidence Bundle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partner archetype and source plan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candidate evidence records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weighted scorecard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portfolio role and concentration model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versioned partner brief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0624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0624" y="4041648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41792" y="4261104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41792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3856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0936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communication and escalation log</a:t>
            </a:r>
          </a:p>
        </p:txBody>
      </p:sp>
    </p:spTree>
  </p:cSld>
  <p:clrMapOvr>
    <a:masterClrMapping/>
  </p:clrMapOvr>
  <p:transition spd="fast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Partner Review Pack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identity and ownership evidence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audience and engagement sample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content and disclosure review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policy and reputation flags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commercial references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0624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0624" y="4041648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41792" y="4261104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41792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3856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0936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human decision and conditions</a:t>
            </a:r>
          </a:p>
        </p:txBody>
      </p:sp>
    </p:spTree>
  </p:cSld>
  <p:clrMapOvr>
    <a:masterClrMapping/>
  </p:clrMapOvr>
  <p:transition spd="fast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LAB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21201C"/>
                </a:solidFill>
                <a:latin typeface="Cambria"/>
              </a:rPr>
              <a:t>MCP-Assisted Partner Discovery and Due Diligence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6B6862"/>
                </a:solidFill>
                <a:latin typeface="Calibri"/>
              </a:rPr>
              <a:t>LO2 | K2, K3, K7 | A3 · 120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731520"/>
            <a:ext cx="18288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B9B4A9"/>
                </a:solidFill>
                <a:latin typeface="Cambr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129</a:t>
            </a:r>
          </a:p>
        </p:txBody>
      </p:sp>
    </p:spTree>
  </p:cSld>
  <p:clrMapOvr>
    <a:masterClrMapping/>
  </p:clrMapOvr>
  <p:transition spd="med">
    <p:push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PRACTICE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3 Scenario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Business need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Use a read-only research workflow to collect and verify candidate background information, then produce a source-backed shortlist.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Deliverable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 partner evidence register, due-diligence report and explainable shortlist.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Tool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Claude Cowork, read-only MCP/web research, CSV, Python scorecard</a:t>
            </a:r>
          </a:p>
        </p:txBody>
      </p:sp>
    </p:spTree>
  </p:cSld>
  <p:clrMapOvr>
    <a:masterClrMapping/>
  </p:clrMapOvr>
  <p:transition spd="fast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HOW THE WORKFLOW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3 Runtime Mechanism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Define partner archetype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Search only approved sources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Capture identity and audience evidence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Run fraud, policy and fit gates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Human reviews shortlist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WHAT MUST REMAIN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3 Concrete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one row per candidate identity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facts retain direct source URLs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engagement uses a dated denominator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connector is read-only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missing evidence is never imputed</a:t>
            </a:r>
          </a:p>
        </p:txBody>
      </p:sp>
    </p:spTree>
  </p:cSld>
  <p:clrMapOvr>
    <a:masterClrMapping/>
  </p:clrMapOvr>
  <p:transition spd="fast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WHAT TO CAPTURE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3 Evidence Package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affiliate-candidates.csv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source register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due-diligence findings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partner-scorecard.md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human shortlist decision</a:t>
            </a:r>
          </a:p>
        </p:txBody>
      </p:sp>
    </p:spTree>
  </p:cSld>
  <p:clrMapOvr>
    <a:masterClrMapping/>
  </p:clrMapOvr>
  <p:transition spd="fast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TEST WITHOUT CLICK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3 Verification and 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Accept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connector boundary is read-only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46329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46329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39928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identity and audience evidence sourced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18338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833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1193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hard gates exclude failures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90347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90347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83946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scores recompute</a:t>
            </a:r>
          </a:p>
        </p:txBody>
      </p:sp>
      <p:sp>
        <p:nvSpPr>
          <p:cNvPr id="25" name="Oval 24"/>
          <p:cNvSpPr/>
          <p:nvPr/>
        </p:nvSpPr>
        <p:spPr>
          <a:xfrm>
            <a:off x="950976" y="56235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6235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81328" y="55595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human shortlist rationale recorded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Diagnose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identity conflict blocks candidate</a:t>
            </a:r>
          </a:p>
        </p:txBody>
      </p:sp>
      <p:sp>
        <p:nvSpPr>
          <p:cNvPr id="34" name="Oval 33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bot-like engagement flags review</a:t>
            </a:r>
          </a:p>
        </p:txBody>
      </p:sp>
      <p:sp>
        <p:nvSpPr>
          <p:cNvPr id="37" name="Oval 36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source text cannot change instructions</a:t>
            </a:r>
          </a:p>
        </p:txBody>
      </p:sp>
      <p:sp>
        <p:nvSpPr>
          <p:cNvPr id="40" name="Oval 39"/>
          <p:cNvSpPr/>
          <p:nvPr/>
        </p:nvSpPr>
        <p:spPr>
          <a:xfrm>
            <a:off x="6556248" y="521208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56248" y="52120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51480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policy gate is non-compensable</a:t>
            </a:r>
          </a:p>
        </p:txBody>
      </p:sp>
    </p:spTree>
  </p:cSld>
  <p:clrMapOvr>
    <a:masterClrMapping/>
  </p:clrMapOvr>
  <p:transition spd="fast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LAB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21201C"/>
                </a:solidFill>
                <a:latin typeface="Cambria"/>
              </a:rPr>
              <a:t>Affiliate Portfolio and Communication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6B6862"/>
                </a:solidFill>
                <a:latin typeface="Calibri"/>
              </a:rPr>
              <a:t>LO2 | A2 · 90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731520"/>
            <a:ext cx="18288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B9B4A9"/>
                </a:solidFill>
                <a:latin typeface="Cambr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135</a:t>
            </a:r>
          </a:p>
        </p:txBody>
      </p:sp>
    </p:spTree>
  </p:cSld>
  <p:clrMapOvr>
    <a:masterClrMapping/>
  </p:clrMapOvr>
  <p:transition spd="med">
    <p:push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PRACTICE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4 Scenario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Business need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Construct a role-balanced portfolio and a controlled communication cadence that keeps partner briefs, product updates and escalations traceable.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Deliverable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 portfolio mix model, tiered communication plan and versioned partner brief generated by a custom Skill.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Tool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Claude Cowork, custom Skill, CSV portfolio model, Markdown brief templates</a:t>
            </a:r>
          </a:p>
        </p:txBody>
      </p:sp>
    </p:spTree>
  </p:cSld>
  <p:clrMapOvr>
    <a:masterClrMapping/>
  </p:clrMapOvr>
  <p:transition spd="fast">
    <p:fade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HOW THE WORKFLOW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4 Runtime Mechanism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Classify partner roles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Measure concentration and gaps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Assign service tier and capacity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Generate versioned brief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Track acknowledgement and escalation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WHAT MUST REMAIN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4 Concrete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portfolio share totals 100%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top-3 concentration is visible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each partner has one owner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brief carries product and asset version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message event has outcome and next action</a:t>
            </a:r>
          </a:p>
        </p:txBody>
      </p:sp>
    </p:spTree>
  </p:cSld>
  <p:clrMapOvr>
    <a:masterClrMapping/>
  </p:clrMapOvr>
  <p:transition spd="fast">
    <p:fade/>
  </p:transition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WHAT TO CAPTURE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4 Evidence Package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portfolio.csv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portfolio-analysis.md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communication-cadence.csv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approved partner brief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message and escalation log</a:t>
            </a:r>
          </a:p>
        </p:txBody>
      </p:sp>
    </p:spTree>
  </p:cSld>
  <p:clrMapOvr>
    <a:masterClrMapping/>
  </p:clrMapOvr>
  <p:transition spd="fast">
    <p:fade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TEST WITHOUT CLICK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4 Verification and 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140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Accept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portfolio shares reconcile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46329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46329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39928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concentration reported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18338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833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1193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role gap identified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90347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90347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83946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brief versioned and approved</a:t>
            </a:r>
          </a:p>
        </p:txBody>
      </p:sp>
      <p:sp>
        <p:nvSpPr>
          <p:cNvPr id="25" name="Oval 24"/>
          <p:cNvSpPr/>
          <p:nvPr/>
        </p:nvSpPr>
        <p:spPr>
          <a:xfrm>
            <a:off x="950976" y="56235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6235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81328" y="55595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SLA escalation works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Diagnose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duplicate audience creates hidden concentration</a:t>
            </a:r>
          </a:p>
        </p:txBody>
      </p:sp>
      <p:sp>
        <p:nvSpPr>
          <p:cNvPr id="34" name="Oval 33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old brief version is blocked</a:t>
            </a:r>
          </a:p>
        </p:txBody>
      </p:sp>
      <p:sp>
        <p:nvSpPr>
          <p:cNvPr id="37" name="Oval 36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SLA miss triggers named escalation</a:t>
            </a:r>
          </a:p>
        </p:txBody>
      </p:sp>
      <p:sp>
        <p:nvSpPr>
          <p:cNvPr id="40" name="Oval 39"/>
          <p:cNvSpPr/>
          <p:nvPr/>
        </p:nvSpPr>
        <p:spPr>
          <a:xfrm>
            <a:off x="6556248" y="521208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56248" y="52120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51480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agent cannot change commercial terms</a:t>
            </a:r>
          </a:p>
        </p:txBody>
      </p:sp>
    </p:spTree>
  </p:cSld>
  <p:clrMapOvr>
    <a:masterClrMapping/>
  </p:clrMapOvr>
  <p:transition spd="fast">
    <p:fade/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TOPIC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21201C"/>
                </a:solidFill>
                <a:latin typeface="Cambria"/>
              </a:rPr>
              <a:t>Campaign Reporting, Compliance and Optimisation with Agentic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6B6862"/>
                </a:solidFill>
                <a:latin typeface="Calibri"/>
              </a:rPr>
              <a:t>Tracked links -&gt; event facts -&gt; commission reconciliation -&gt; policy checks -&gt; controlled experiments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731520"/>
            <a:ext cx="18288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B9B4A9"/>
                </a:solidFill>
                <a:latin typeface="Cambr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  <p:transition spd="med">
    <p:push/>
  </p:transition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LO3 | K4, K8, K9 |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Topic 03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Mechanism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Preserve attribution grain from click and order events through commission settlement.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5916" y="1700784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5916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87084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7084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9148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Mechanism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Calculate traffic, conversion, revenue, commission and ROI with explicit denominators.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4041648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5024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Mechanism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Gate content and partner actions with disclosure, brand, privacy and policy controls.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5916" y="4041648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85916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87084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7084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9148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Mechanism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6228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Convert dashboard evidence into reversible tests with human ownership and guardrails.</a:t>
            </a:r>
          </a:p>
        </p:txBody>
      </p:sp>
    </p:spTree>
  </p:cSld>
  <p:clrMapOvr>
    <a:masterClrMapping/>
  </p:clrMapOvr>
  <p:transition spd="fast">
    <p:fade/>
  </p:transition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VISUAL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Attribution Evidence Drives Controlled Optimisation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143</a:t>
            </a:r>
          </a:p>
        </p:txBody>
      </p:sp>
      <p:pic>
        <p:nvPicPr>
          <p:cNvPr id="10" name="Picture 9" descr="affiliate-performance-loop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55648"/>
            <a:ext cx="8001000" cy="444398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87968" y="1783080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887968" y="1783080"/>
            <a:ext cx="64008" cy="758952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89136" y="1856232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3A7D7B"/>
                </a:solidFill>
                <a:latin typeface="Calibri"/>
              </a:rPr>
              <a:t>Content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unique tracked links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87968" y="2633472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87968" y="2633472"/>
            <a:ext cx="64008" cy="758952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2706624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B5483A"/>
                </a:solidFill>
                <a:latin typeface="Calibri"/>
              </a:rPr>
              <a:t>Ledger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click, conversion and payout grain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87968" y="3483864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87968" y="3483864"/>
            <a:ext cx="64008" cy="758952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9136" y="3557016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C88A2E"/>
                </a:solidFill>
                <a:latin typeface="Calibri"/>
              </a:rPr>
              <a:t>Dashboard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traffic, revenue and ROI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87968" y="4334256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87968" y="4334256"/>
            <a:ext cx="64008" cy="758952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89136" y="4407408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AI analyst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anomaly and hypothesis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87968" y="5184648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87968" y="5184648"/>
            <a:ext cx="64008" cy="758952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89136" y="5257800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3A7D7B"/>
                </a:solidFill>
                <a:latin typeface="Calibri"/>
              </a:rPr>
              <a:t>Human owner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approve reversible change</a:t>
            </a:r>
          </a:p>
        </p:txBody>
      </p:sp>
    </p:spTree>
  </p:cSld>
  <p:clrMapOvr>
    <a:masterClrMapping/>
  </p:clrMapOvr>
  <p:transition spd="fast">
    <p:fade/>
  </p:transition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Campaign Runtime Trace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Approve brief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Issue partner links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Publish content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Capture click and order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Validate and settle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Attribution Event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Receive event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Verify identity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Deduplicate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Join partner and campaign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Store immutable fact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Commission Reconciliation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146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Import approved orders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Apply programme terms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Subtract reversals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Compare network statement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Approve payout variance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Compliance Review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Load content and policy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Detect claims and disclosure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Check evidence and placement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Human resolves flags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Archive decision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Agentic Reporting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Read validated facts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Calculate deterministic metrics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Agent explains variance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Reviewer challenges inference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Publish approved report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Optimisation Experiment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149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Diagnose bottleneck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Write hypothesis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Choose primary metric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Set guardrails and stop rule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Approve bounded 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Tracked Link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partner_id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affiliate identity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campaign_id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strategic initiative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creative_id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approved asset version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destination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allow-listed landing page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utm_fields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channel reporting labels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issued_at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traceable link version</a:t>
            </a:r>
          </a:p>
        </p:txBody>
      </p:sp>
    </p:spTree>
  </p:cSld>
  <p:clrMapOvr>
    <a:masterClrMapping/>
  </p:clrMapOvr>
  <p:transition spd="fast">
    <p:fade/>
  </p:transition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Click Event Fact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151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click_id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deduplication key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occurred_at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UTC event time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partner_id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source affiliate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campaign_id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linked campaign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landing_page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approved destination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consent_state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lawful tracking boundary</a:t>
            </a:r>
          </a:p>
        </p:txBody>
      </p:sp>
    </p:spTree>
  </p:cSld>
  <p:clrMapOvr>
    <a:masterClrMapping/>
  </p:clrMapOvr>
  <p:transition spd="fast">
    <p:fade/>
  </p:transition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Conversion Event Fact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152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order_id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merchant transaction key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click_id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attribution join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approved_revenue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net eligible amount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pending | approved | reversed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commission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calculated liability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validated_at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merchant decision time</a:t>
            </a:r>
          </a:p>
        </p:txBody>
      </p:sp>
    </p:spTree>
  </p:cSld>
  <p:clrMapOvr>
    <a:masterClrMapping/>
  </p:clrMapOvr>
  <p:transition spd="fast">
    <p:fade/>
  </p:transition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Campaign KPI Dictionary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153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human-readable name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numerator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event or money 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denominator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eligible population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grain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partner, campaign and period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exclusions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bots, reversals or invalid traffic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owner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definition steward</a:t>
            </a:r>
          </a:p>
        </p:txBody>
      </p:sp>
    </p:spTree>
  </p:cSld>
  <p:clrMapOvr>
    <a:masterClrMapping/>
  </p:clrMapOvr>
  <p:transition spd="fast">
    <p:fade/>
  </p:transition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Compliance Finding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154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finding_id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stable review key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rule_id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policy or legal requirement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evidence_span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exact content location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severity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low | medium | high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resolution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change, accept or reject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reviewer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human decision owner</a:t>
            </a:r>
          </a:p>
        </p:txBody>
      </p:sp>
    </p:spTree>
  </p:cSld>
  <p:clrMapOvr>
    <a:masterClrMapping/>
  </p:clrMapOvr>
  <p:transition spd="fast">
    <p:fade/>
  </p:transition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Affiliate Progress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155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period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reporting window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portfolio_summary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active partners and mix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performance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traffic, conversion and revenue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commission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gross, reversal and payable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compliance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findings and status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actions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owner, due date and expected effect</a:t>
            </a:r>
          </a:p>
        </p:txBody>
      </p:sp>
    </p:spTree>
  </p:cSld>
  <p:clrMapOvr>
    <a:masterClrMapping/>
  </p:clrMapOvr>
  <p:transition spd="fast">
    <p:fade/>
  </p:transition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Click-Through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156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CTR = affiliate-link clicks / eligible content impressions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4,200 / 120,000 = 3.5%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Impressions must use the same content, audience and window as clicks.</a:t>
            </a:r>
          </a:p>
        </p:txBody>
      </p:sp>
    </p:spTree>
  </p:cSld>
  <p:clrMapOvr>
    <a:masterClrMapping/>
  </p:clrMapOvr>
  <p:transition spd="fast">
    <p:fade/>
  </p:transition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Approved Conversion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157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CVR = approved conversions / unique tracked clicks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168 / 4,200 = 4.0%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Pending or reversed orders do not prove completed commercial value.</a:t>
            </a:r>
          </a:p>
        </p:txBody>
      </p:sp>
    </p:spTree>
  </p:cSld>
  <p:clrMapOvr>
    <a:masterClrMapping/>
  </p:clrMapOvr>
  <p:transition spd="fast">
    <p:fade/>
  </p:transition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Average Order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158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AOV = approved revenue / approved orders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$23,520 / 168 = $140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Segment by product and new/existing customer before applying one average to forecasts.</a:t>
            </a:r>
          </a:p>
        </p:txBody>
      </p:sp>
    </p:spTree>
  </p:cSld>
  <p:clrMapOvr>
    <a:masterClrMapping/>
  </p:clrMapOvr>
  <p:transition spd="fast">
    <p:fade/>
  </p:transition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Commission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159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Effective commission rate = payable commission / approved revenue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$2,688 / $23,520 = 11.43%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Tier bonuses and exclusions can make the effective rate differ from the headline rate.</a:t>
            </a:r>
          </a:p>
        </p:txBody>
      </p:sp>
    </p:spTree>
  </p:cSld>
  <p:clrMapOvr>
    <a:masterClrMapping/>
  </p:clrMapOvr>
  <p:transition spd="fast">
    <p:fade/>
  </p:transition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Affiliate ROI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160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ROI = (attributed gross profit - commission - programme cost) / programme cost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($9,408 - $2,688 - $2,000) / $2,000 = 236%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Use gross profit, not revenue, and disclose attribution assumptions.</a:t>
            </a:r>
          </a:p>
        </p:txBody>
      </p:sp>
    </p:spTree>
  </p:cSld>
  <p:clrMapOvr>
    <a:masterClrMapping/>
  </p:clrMapOvr>
  <p:transition spd="fast">
    <p:fade/>
  </p:transition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Variance Threshold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161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Variance % = (actual - plan) / plan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($23,520 - $20,000) / $20,000 = 17.6%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Materiality is an approved threshold; an agent should not invent it after seeing results.</a:t>
            </a:r>
          </a:p>
        </p:txBody>
      </p:sp>
    </p:spTree>
  </p:cSld>
  <p:clrMapOvr>
    <a:masterClrMapping/>
  </p:clrMapOvr>
  <p:transition spd="fast">
    <p:fade/>
  </p:transition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First-Click vs Last-Click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162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First-click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Credits discovery source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Useful for acquisition analysis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Ignores closing influence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Last-click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Credits final touch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Common and operationally simple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Ignores earlier assistance</a:t>
            </a:r>
          </a:p>
        </p:txBody>
      </p:sp>
    </p:spTree>
  </p:cSld>
  <p:clrMapOvr>
    <a:masterClrMapping/>
  </p:clrMapOvr>
  <p:transition spd="fast">
    <p:fade/>
  </p:transition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Gross vs Approved Conversion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163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Gross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Fast leading signal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Includes pending and fraud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Overstates payable value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Approved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Validated merchant outcome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Supports settlement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Arrives with delay</a:t>
            </a:r>
          </a:p>
        </p:txBody>
      </p:sp>
    </p:spTree>
  </p:cSld>
  <p:clrMapOvr>
    <a:masterClrMapping/>
  </p:clrMapOvr>
  <p:transition spd="fast">
    <p:fade/>
  </p:transition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Platform Dashboard vs Reconciled Ledger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164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Platform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Quick operational view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Uses network definitions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May omit merchant reversals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Reconciled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Joins merchant truth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Supports finance and payout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Needs identity and timing controls</a:t>
            </a:r>
          </a:p>
        </p:txBody>
      </p:sp>
    </p:spTree>
  </p:cSld>
  <p:clrMapOvr>
    <a:masterClrMapping/>
  </p:clrMapOvr>
  <p:transition spd="fast">
    <p:fade/>
  </p:transition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Disclosure Present vs Disclosure Clear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165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Present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Words exist somewhere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May be hidden after click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Can fail consumer understanding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Clear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Prominent before endorsement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Plain language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Matches channel context</a:t>
            </a:r>
          </a:p>
        </p:txBody>
      </p:sp>
    </p:spTree>
  </p:cSld>
  <p:clrMapOvr>
    <a:masterClrMapping/>
  </p:clrMapOvr>
  <p:transition spd="fast">
    <p:fade/>
  </p:transition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Agent Narrative vs Deterministic Metric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166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Agent narrative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Explains patterns and hypotheses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Useful for stakeholder reading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Can overstate causality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Deterministic metric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Recomputable formula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Explicit fields and denominator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Source of record for decisions</a:t>
            </a:r>
          </a:p>
        </p:txBody>
      </p:sp>
    </p:spTree>
  </p:cSld>
  <p:clrMapOvr>
    <a:masterClrMapping/>
  </p:clrMapOvr>
  <p:transition spd="fast">
    <p:fade/>
  </p:transition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Optimisation vs Policy Override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167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Optimisation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Changes creative, mix or cadence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Bounded test and guardrails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Owner can reverse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Policy override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Weakens disclosure or controls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Not a performance lever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Requires governance decision, usually reject</a:t>
            </a:r>
          </a:p>
        </p:txBody>
      </p:sp>
    </p:spTree>
  </p:cSld>
  <p:clrMapOvr>
    <a:masterClrMapping/>
  </p:clrMapOvr>
  <p:transition spd="fast">
    <p:fade/>
  </p:transition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Affiliate Funnel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168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Checkout-to-approved loss should be split into abandonment, fraud, cancellation and return causes.</a:t>
            </a:r>
          </a:p>
        </p:txBody>
      </p:sp>
    </p:spTree>
  </p:cSld>
  <p:clrMapOvr>
    <a:masterClrMapping/>
  </p:clrMapOvr>
  <p:transition spd="fast">
    <p:fade/>
  </p:transition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Revenue and Commission by Partner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169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Partner B has a higher effective commission burden than Partner A despite lower revenue.</a:t>
            </a:r>
          </a:p>
        </p:txBody>
      </p:sp>
    </p:spTree>
  </p:cSld>
  <p:clrMapOvr>
    <a:masterClrMapping/>
  </p:clrMapOvr>
  <p:transition spd="fast">
    <p:fade/>
  </p:transition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Conversion Rate by Channel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170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Channel mix changes can move the blended conversion rate without any content-quality change.</a:t>
            </a:r>
          </a:p>
        </p:txBody>
      </p:sp>
    </p:spTree>
  </p:cSld>
  <p:clrMapOvr>
    <a:masterClrMapping/>
  </p:clrMapOvr>
  <p:transition spd="fast">
    <p:fade/>
  </p:transition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Performance Against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171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More clicks produced fewer approved orders, but larger baskets lifted revenue and ROI.</a:t>
            </a:r>
          </a:p>
        </p:txBody>
      </p:sp>
    </p:spTree>
  </p:cSld>
  <p:clrMapOvr>
    <a:masterClrMapping/>
  </p:clrMapOvr>
  <p:transition spd="fast">
    <p:fade/>
  </p:transition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Compliance Findings by Severity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172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Disclosure is the first remediation priority because it has the most high-severity findings.</a:t>
            </a:r>
          </a:p>
        </p:txBody>
      </p:sp>
    </p:spTree>
  </p:cSld>
  <p:clrMapOvr>
    <a:masterClrMapping/>
  </p:clrMapOvr>
  <p:transition spd="fast">
    <p:fade/>
  </p:transition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DECISION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Publish a Campaign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173</a:t>
            </a:r>
          </a:p>
        </p:txBody>
      </p:sp>
      <p:sp>
        <p:nvSpPr>
          <p:cNvPr id="10" name="Diamond 9"/>
          <p:cNvSpPr/>
          <p:nvPr/>
        </p:nvSpPr>
        <p:spPr>
          <a:xfrm>
            <a:off x="4434840" y="1874519"/>
            <a:ext cx="3246120" cy="2148840"/>
          </a:xfrm>
          <a:prstGeom prst="diamond">
            <a:avLst/>
          </a:prstGeom>
          <a:solidFill>
            <a:srgbClr val="FBE9E4"/>
          </a:solidFill>
          <a:ln w="254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12848"/>
            <a:ext cx="2514600" cy="12801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Are every metric definition, source period, reconciliation status and material limitation stated?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343400"/>
            <a:ext cx="4983480" cy="1097280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YES · </a:t>
            </a:r>
            <a:r>
              <a:rPr sz="1350" b="0">
                <a:solidFill>
                  <a:srgbClr val="21201C"/>
                </a:solidFill>
                <a:latin typeface="Calibri"/>
              </a:rPr>
              <a:t>Release the reviewed report with actions and owners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343400"/>
            <a:ext cx="4983480" cy="1097280"/>
          </a:xfrm>
          <a:prstGeom prst="roundRect">
            <a:avLst/>
          </a:prstGeom>
          <a:solidFill>
            <a:srgbClr val="FB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5483A"/>
                </a:solidFill>
                <a:latin typeface="Calibri"/>
              </a:rPr>
              <a:t>NO · </a:t>
            </a:r>
            <a:r>
              <a:rPr sz="1350" b="0">
                <a:solidFill>
                  <a:srgbClr val="21201C"/>
                </a:solidFill>
                <a:latin typeface="Calibri"/>
              </a:rPr>
              <a:t>Return to data validation; do not let narrative hide missing facts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200400" y="3749039"/>
            <a:ext cx="1828800" cy="594361"/>
          </a:xfrm>
          <a:prstGeom prst="bentConnector3">
            <a:avLst/>
          </a:prstGeom>
          <a:ln w="254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78040" y="3749039"/>
            <a:ext cx="1783080" cy="594361"/>
          </a:xfrm>
          <a:prstGeom prst="bentConnector3">
            <a:avLst/>
          </a:prstGeom>
          <a:ln w="2540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DECISION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Approve an Optimisation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174</a:t>
            </a:r>
          </a:p>
        </p:txBody>
      </p:sp>
      <p:sp>
        <p:nvSpPr>
          <p:cNvPr id="10" name="Diamond 9"/>
          <p:cNvSpPr/>
          <p:nvPr/>
        </p:nvSpPr>
        <p:spPr>
          <a:xfrm>
            <a:off x="4434840" y="1874519"/>
            <a:ext cx="3246120" cy="2148840"/>
          </a:xfrm>
          <a:prstGeom prst="diamond">
            <a:avLst/>
          </a:prstGeom>
          <a:solidFill>
            <a:srgbClr val="FBE9E4"/>
          </a:solidFill>
          <a:ln w="254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12848"/>
            <a:ext cx="2514600" cy="12801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Is the diagnosis evidence-backed, reversible, policy-compliant and protected by guardrails?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343400"/>
            <a:ext cx="4983480" cy="1097280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YES · </a:t>
            </a:r>
            <a:r>
              <a:rPr sz="1350" b="0">
                <a:solidFill>
                  <a:srgbClr val="21201C"/>
                </a:solidFill>
                <a:latin typeface="Calibri"/>
              </a:rPr>
              <a:t>Approve a bounded experiment and monitor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343400"/>
            <a:ext cx="4983480" cy="1097280"/>
          </a:xfrm>
          <a:prstGeom prst="roundRect">
            <a:avLst/>
          </a:prstGeom>
          <a:solidFill>
            <a:srgbClr val="FB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5483A"/>
                </a:solidFill>
                <a:latin typeface="Calibri"/>
              </a:rPr>
              <a:t>NO · </a:t>
            </a:r>
            <a:r>
              <a:rPr sz="1350" b="0">
                <a:solidFill>
                  <a:srgbClr val="21201C"/>
                </a:solidFill>
                <a:latin typeface="Calibri"/>
              </a:rPr>
              <a:t>Reject, gather evidence or escalate to governance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200400" y="3749039"/>
            <a:ext cx="1828800" cy="594361"/>
          </a:xfrm>
          <a:prstGeom prst="bentConnector3">
            <a:avLst/>
          </a:prstGeom>
          <a:ln w="254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78040" y="3749039"/>
            <a:ext cx="1783080" cy="594361"/>
          </a:xfrm>
          <a:prstGeom prst="bentConnector3">
            <a:avLst/>
          </a:prstGeom>
          <a:ln w="2540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DECISION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Pay a Commission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175</a:t>
            </a:r>
          </a:p>
        </p:txBody>
      </p:sp>
      <p:sp>
        <p:nvSpPr>
          <p:cNvPr id="10" name="Diamond 9"/>
          <p:cNvSpPr/>
          <p:nvPr/>
        </p:nvSpPr>
        <p:spPr>
          <a:xfrm>
            <a:off x="4434840" y="1874519"/>
            <a:ext cx="3246120" cy="2148840"/>
          </a:xfrm>
          <a:prstGeom prst="diamond">
            <a:avLst/>
          </a:prstGeom>
          <a:solidFill>
            <a:srgbClr val="FBE9E4"/>
          </a:solidFill>
          <a:ln w="254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12848"/>
            <a:ext cx="2514600" cy="12801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Does the order meet attribution, approval, return-window and programme-term rules?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343400"/>
            <a:ext cx="4983480" cy="1097280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YES · </a:t>
            </a:r>
            <a:r>
              <a:rPr sz="1350" b="0">
                <a:solidFill>
                  <a:srgbClr val="21201C"/>
                </a:solidFill>
                <a:latin typeface="Calibri"/>
              </a:rPr>
              <a:t>Record payable amount and settlement 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343400"/>
            <a:ext cx="4983480" cy="1097280"/>
          </a:xfrm>
          <a:prstGeom prst="roundRect">
            <a:avLst/>
          </a:prstGeom>
          <a:solidFill>
            <a:srgbClr val="FB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5483A"/>
                </a:solidFill>
                <a:latin typeface="Calibri"/>
              </a:rPr>
              <a:t>NO · </a:t>
            </a:r>
            <a:r>
              <a:rPr sz="1350" b="0">
                <a:solidFill>
                  <a:srgbClr val="21201C"/>
                </a:solidFill>
                <a:latin typeface="Calibri"/>
              </a:rPr>
              <a:t>Hold or reverse with a traceable reason code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200400" y="3749039"/>
            <a:ext cx="1828800" cy="594361"/>
          </a:xfrm>
          <a:prstGeom prst="bentConnector3">
            <a:avLst/>
          </a:prstGeom>
          <a:ln w="254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78040" y="3749039"/>
            <a:ext cx="1783080" cy="594361"/>
          </a:xfrm>
          <a:prstGeom prst="bentConnector3">
            <a:avLst/>
          </a:prstGeom>
          <a:ln w="2540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FAILURE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Attribution Failure Modes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176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1865376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755648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Duplicate click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retry counted twice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2724912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2491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615184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Broken join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2615184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670048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order lacks click or partner key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584448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8444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474720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Window mismatch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3474720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529584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conversion outside terms</a:t>
            </a:r>
          </a:p>
        </p:txBody>
      </p:sp>
      <p:sp>
        <p:nvSpPr>
          <p:cNvPr id="25" name="Oval 24"/>
          <p:cNvSpPr/>
          <p:nvPr/>
        </p:nvSpPr>
        <p:spPr>
          <a:xfrm>
            <a:off x="749808" y="4443984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4398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334256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Cross-device gap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4334256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389120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journey cannot be linked</a:t>
            </a:r>
          </a:p>
        </p:txBody>
      </p:sp>
      <p:sp>
        <p:nvSpPr>
          <p:cNvPr id="30" name="Oval 29"/>
          <p:cNvSpPr/>
          <p:nvPr/>
        </p:nvSpPr>
        <p:spPr>
          <a:xfrm>
            <a:off x="749808" y="5303520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03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193792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Consent breach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3552" y="5193792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248656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tracking beyond lawful boundary</a:t>
            </a:r>
          </a:p>
        </p:txBody>
      </p:sp>
    </p:spTree>
  </p:cSld>
  <p:clrMapOvr>
    <a:masterClrMapping/>
  </p:clrMapOvr>
  <p:transition spd="fast">
    <p:fade/>
  </p:transition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FAILURE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Reporting Failure Modes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177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1865376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755648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Metric drift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same label, changed formula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2724912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2491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615184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Gross value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2615184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670048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reversals omitted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584448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8444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474720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Blended average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3474720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529584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segment weakness hidden</a:t>
            </a:r>
          </a:p>
        </p:txBody>
      </p:sp>
      <p:sp>
        <p:nvSpPr>
          <p:cNvPr id="25" name="Oval 24"/>
          <p:cNvSpPr/>
          <p:nvPr/>
        </p:nvSpPr>
        <p:spPr>
          <a:xfrm>
            <a:off x="749808" y="4443984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4398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334256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Narrative inflation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4334256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389120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correlation stated as cause</a:t>
            </a:r>
          </a:p>
        </p:txBody>
      </p:sp>
      <p:sp>
        <p:nvSpPr>
          <p:cNvPr id="30" name="Oval 29"/>
          <p:cNvSpPr/>
          <p:nvPr/>
        </p:nvSpPr>
        <p:spPr>
          <a:xfrm>
            <a:off x="749808" y="5303520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03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193792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No owner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3552" y="5193792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248656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recommendation never closes</a:t>
            </a:r>
          </a:p>
        </p:txBody>
      </p:sp>
    </p:spTree>
  </p:cSld>
  <p:clrMapOvr>
    <a:masterClrMapping/>
  </p:clrMapOvr>
  <p:transition spd="fast">
    <p:fade/>
  </p:transition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FAILURE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Compliance Failure Modes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178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1865376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755648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Hidden disclosure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affiliate relationship unclear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2724912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2491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615184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Unsupported claim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2615184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670048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evidence absent or stale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584448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8444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474720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Brand drift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3474720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529584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partner changes mandatory message</a:t>
            </a:r>
          </a:p>
        </p:txBody>
      </p:sp>
      <p:sp>
        <p:nvSpPr>
          <p:cNvPr id="25" name="Oval 24"/>
          <p:cNvSpPr/>
          <p:nvPr/>
        </p:nvSpPr>
        <p:spPr>
          <a:xfrm>
            <a:off x="749808" y="4443984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4398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334256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Privacy misuse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4334256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389120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personal data copied to tools</a:t>
            </a:r>
          </a:p>
        </p:txBody>
      </p:sp>
      <p:sp>
        <p:nvSpPr>
          <p:cNvPr id="30" name="Oval 29"/>
          <p:cNvSpPr/>
          <p:nvPr/>
        </p:nvSpPr>
        <p:spPr>
          <a:xfrm>
            <a:off x="749808" y="5303520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03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193792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Agent release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3552" y="5193792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248656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content publishes without human approval</a:t>
            </a:r>
          </a:p>
        </p:txBody>
      </p:sp>
    </p:spTree>
  </p:cSld>
  <p:clrMapOvr>
    <a:masterClrMapping/>
  </p:clrMapOvr>
  <p:transition spd="fast">
    <p:fade/>
  </p:transition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LO3 Evidence Bundle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179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tracked-link register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validated click and conversion facts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commission reconciliation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KPI dictionary and dashboard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compliance findings and resolution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0624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0624" y="4041648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41792" y="4261104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41792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3856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0936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approved progress report and experiment</a:t>
            </a:r>
          </a:p>
        </p:txBody>
      </p:sp>
    </p:spTree>
  </p:cSld>
  <p:clrMapOvr>
    <a:masterClrMapping/>
  </p:clrMapOvr>
  <p:transition spd="fast">
    <p:fade/>
  </p:transition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Management Report Reading Order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180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decision and period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portfolio and campaign status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performance versus plan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commission and reconciliation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compliance and limitations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0624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0624" y="4041648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41792" y="4261104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41792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3856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0936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actions, owners and due dates</a:t>
            </a:r>
          </a:p>
        </p:txBody>
      </p:sp>
    </p:spTree>
  </p:cSld>
  <p:clrMapOvr>
    <a:masterClrMapping/>
  </p:clrMapOvr>
  <p:transition spd="fast">
    <p:fade/>
  </p:transition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LAB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21201C"/>
                </a:solidFill>
                <a:latin typeface="Cambria"/>
              </a:rPr>
              <a:t>Brand-Aligned Multi-Channel Campaign Factory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6B6862"/>
                </a:solidFill>
                <a:latin typeface="Calibri"/>
              </a:rPr>
              <a:t>LO3 | K4, K8, K9 · 90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731520"/>
            <a:ext cx="18288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B9B4A9"/>
                </a:solidFill>
                <a:latin typeface="Cambr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181</a:t>
            </a:r>
          </a:p>
        </p:txBody>
      </p:sp>
    </p:spTree>
  </p:cSld>
  <p:clrMapOvr>
    <a:masterClrMapping/>
  </p:clrMapOvr>
  <p:transition spd="med">
    <p:push/>
  </p:transition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PRACTICE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5 Scenario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182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Business need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Use a bounded content Skill to produce website, email, social and video briefs from one approved campaign contract, with disclosure and claim controls.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Deliverable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 machine-readable campaign brief, four channel artifacts and a compliance release report.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Tool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Claude Cowork, custom Skill, JSON schema, deterministic compliance checker</a:t>
            </a:r>
          </a:p>
        </p:txBody>
      </p:sp>
    </p:spTree>
  </p:cSld>
  <p:clrMapOvr>
    <a:masterClrMapping/>
  </p:clrMapOvr>
  <p:transition spd="fast">
    <p:fade/>
  </p:transition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HOW THE WORKFLOW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5 Runtime Mechanism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183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Load strategic brief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Generate channel-specific drafts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Preserve claim source IDs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Run disclosure and brand checks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Human approves exact versions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WHAT MUST REMAIN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5 Concrete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184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one campaign objective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one primary CTA per artifact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tracked links identify channel and partner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affiliate disclosure is prominent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all factual claims cite approved sources</a:t>
            </a:r>
          </a:p>
        </p:txBody>
      </p:sp>
    </p:spTree>
  </p:cSld>
  <p:clrMapOvr>
    <a:masterClrMapping/>
  </p:clrMapOvr>
  <p:transition spd="fast">
    <p:fade/>
  </p:transition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WHAT TO CAPTURE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5 Evidence Package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185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campaign-brief.json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four channel drafts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compliance-report.json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resolved findings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human approval hashes</a:t>
            </a:r>
          </a:p>
        </p:txBody>
      </p:sp>
    </p:spTree>
  </p:cSld>
  <p:clrMapOvr>
    <a:masterClrMapping/>
  </p:clrMapOvr>
  <p:transition spd="fast">
    <p:fade/>
  </p:transition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TEST WITHOUT CLICK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5 Verification and 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186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Accept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brief passes schema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46329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46329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39928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four channel artifacts created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18338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833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1193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claims trace to sources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90347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90347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83946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disclosure passes</a:t>
            </a:r>
          </a:p>
        </p:txBody>
      </p:sp>
      <p:sp>
        <p:nvSpPr>
          <p:cNvPr id="25" name="Oval 24"/>
          <p:cNvSpPr/>
          <p:nvPr/>
        </p:nvSpPr>
        <p:spPr>
          <a:xfrm>
            <a:off x="950976" y="56235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6235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81328" y="55595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human approval hashes recorded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Diagnose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channel draft cannot alter offer terms</a:t>
            </a:r>
          </a:p>
        </p:txBody>
      </p:sp>
      <p:sp>
        <p:nvSpPr>
          <p:cNvPr id="34" name="Oval 33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missing disclosure blocks release</a:t>
            </a:r>
          </a:p>
        </p:txBody>
      </p:sp>
      <p:sp>
        <p:nvSpPr>
          <p:cNvPr id="37" name="Oval 36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unsupported superlative is flagged</a:t>
            </a:r>
          </a:p>
        </p:txBody>
      </p:sp>
      <p:sp>
        <p:nvSpPr>
          <p:cNvPr id="40" name="Oval 39"/>
          <p:cNvSpPr/>
          <p:nvPr/>
        </p:nvSpPr>
        <p:spPr>
          <a:xfrm>
            <a:off x="6556248" y="521208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56248" y="52120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51480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brand and legal issues are separate</a:t>
            </a:r>
          </a:p>
        </p:txBody>
      </p:sp>
    </p:spTree>
  </p:cSld>
  <p:clrMapOvr>
    <a:masterClrMapping/>
  </p:clrMapOvr>
  <p:transition spd="fast">
    <p:fade/>
  </p:transition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LAB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21201C"/>
                </a:solidFill>
                <a:latin typeface="Cambria"/>
              </a:rPr>
              <a:t>Attribution, Commission and Performance Reporting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6B6862"/>
                </a:solidFill>
                <a:latin typeface="Calibri"/>
              </a:rPr>
              <a:t>LO3 | A4 · 135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731520"/>
            <a:ext cx="18288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B9B4A9"/>
                </a:solidFill>
                <a:latin typeface="Cambria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187</a:t>
            </a:r>
          </a:p>
        </p:txBody>
      </p:sp>
    </p:spTree>
  </p:cSld>
  <p:clrMapOvr>
    <a:masterClrMapping/>
  </p:clrMapOvr>
  <p:transition spd="med">
    <p:push/>
  </p:transition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PRACTICE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6 Scenario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188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Business need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Validate click and conversion facts, reconcile commission statements, calculate campaign KPIs and generate an evidence-led management report with controlled recommendations.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Deliverable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 reconciled event ledger, KPI dashboard, commission variance report and approved partner progress report.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Tool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Claude Cowork, CSV event data, Python reconciliation/report scripts, HTML dashboard</a:t>
            </a:r>
          </a:p>
        </p:txBody>
      </p:sp>
    </p:spTree>
  </p:cSld>
  <p:clrMapOvr>
    <a:masterClrMapping/>
  </p:clrMapOvr>
  <p:transition spd="fast">
    <p:fade/>
  </p:transition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HOW THE WORKFLOW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6 Runtime Mechanism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189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Validate and deduplicate events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Join click, order and partner keys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Calculate deterministic metrics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Agent explains variance with limitations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Human approves actions and report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WHAT MUST REMAIN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6 Concrete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190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immutable event identifiers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approved revenue excludes reversals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metric dictionary fixes denominators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commission terms are effective-dated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21201C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recommendations state owner and guardrails</a:t>
            </a:r>
          </a:p>
        </p:txBody>
      </p:sp>
    </p:spTree>
  </p:cSld>
  <p:clrMapOvr>
    <a:masterClrMapping/>
  </p:clrMapOvr>
  <p:transition spd="fast">
    <p:fade/>
  </p:transition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WHAT TO CAPTURE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6 Evidence Package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191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click-events.csv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conversion-events.csv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commission-statement.csv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reconciliation-report.md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dashboard.html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0624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0624" y="4041648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41792" y="4261104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41792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3856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0936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approved-progress-report.md</a:t>
            </a:r>
          </a:p>
        </p:txBody>
      </p:sp>
    </p:spTree>
  </p:cSld>
  <p:clrMapOvr>
    <a:masterClrMapping/>
  </p:clrMapOvr>
  <p:transition spd="fast">
    <p:fade/>
  </p:transition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TEST WITHOUT CLICK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6 Verification and 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192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Accept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event validation passes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46329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46329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39928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commission variance resolved or explained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18338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833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1193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metrics recompute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90347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90347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83946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dashboard and report generated</a:t>
            </a:r>
          </a:p>
        </p:txBody>
      </p:sp>
      <p:sp>
        <p:nvSpPr>
          <p:cNvPr id="25" name="Oval 24"/>
          <p:cNvSpPr/>
          <p:nvPr/>
        </p:nvSpPr>
        <p:spPr>
          <a:xfrm>
            <a:off x="950976" y="56235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6235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81328" y="55595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recommendation has guardrails and owner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Diagnose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duplicate events are quarantined</a:t>
            </a:r>
          </a:p>
        </p:txBody>
      </p:sp>
      <p:sp>
        <p:nvSpPr>
          <p:cNvPr id="34" name="Oval 33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unmatched orders remain unresolved</a:t>
            </a:r>
          </a:p>
        </p:txBody>
      </p:sp>
      <p:sp>
        <p:nvSpPr>
          <p:cNvPr id="37" name="Oval 36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commission variance exceeds threshold</a:t>
            </a:r>
          </a:p>
        </p:txBody>
      </p:sp>
      <p:sp>
        <p:nvSpPr>
          <p:cNvPr id="40" name="Oval 39"/>
          <p:cNvSpPr/>
          <p:nvPr/>
        </p:nvSpPr>
        <p:spPr>
          <a:xfrm>
            <a:off x="6556248" y="521208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56248" y="52120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51480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small samples lower confidence</a:t>
            </a:r>
          </a:p>
        </p:txBody>
      </p:sp>
    </p:spTree>
  </p:cSld>
  <p:clrMapOvr>
    <a:masterClrMapping/>
  </p:clrMapOvr>
  <p:transition spd="fast">
    <p:fade/>
  </p:transition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21201C"/>
                </a:solidFill>
                <a:latin typeface="Cambria"/>
              </a:rPr>
              <a:t>From Evidence to 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6B6862"/>
                </a:solidFill>
                <a:latin typeface="Calibri"/>
              </a:rPr>
              <a:t>Review the control loop, complete the assessment and preserve your working artifacts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193</a:t>
            </a:r>
          </a:p>
        </p:txBody>
      </p:sp>
    </p:spTree>
  </p:cSld>
  <p:clrMapOvr>
    <a:masterClrMapping/>
  </p:clrMapOvr>
  <p:transition spd="med">
    <p:push/>
  </p:transition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LO1 -&gt; LO2 -&gt;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Revision 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194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Labs 1-2: offer economics, trend evidence and product updates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Coordinate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Labs 3-4: due diligence, portfolio and partner communications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Report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Labs 5-6: campaign control, attribution, commission and optimisation</a:t>
            </a:r>
          </a:p>
        </p:txBody>
      </p:sp>
    </p:spTree>
  </p:cSld>
  <p:clrMapOvr>
    <a:masterClrMapping/>
  </p:clrMapOvr>
  <p:transition spd="fast">
    <p:fade/>
  </p:transition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COURSE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What You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195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Evidence-led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Trace every market and partner claim to a source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Reusable agent workflows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Package repeatable work in bounded Skills and connectors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Controlled growth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Approve content, communication, payout and optimisation decisions</a:t>
            </a:r>
          </a:p>
        </p:txBody>
      </p:sp>
    </p:spTree>
  </p:cSld>
  <p:clrMapOvr>
    <a:masterClrMapping/>
  </p:clrMapOvr>
  <p:transition spd="fast">
    <p:fade/>
  </p:transition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LMS · LMS-TMS.TERTIARYINFOTECH.COM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Courseware and Assessment on the LMS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196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Download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Open the course run and download the current slides, Learner Guide and labs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Complete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Open the assigned WA and Case Study papers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Submit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Upload completed answers to the LMS before the deadline</a:t>
            </a:r>
          </a:p>
        </p:txBody>
      </p:sp>
    </p:spTree>
  </p:cSld>
  <p:clrMapOvr>
    <a:masterClrMapping/>
  </p:clrMapOvr>
  <p:transition spd="fast">
    <p:fade/>
  </p:transition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POST-COURSE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197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Email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enquiry@tertiaryinfotech.com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Telephone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+65 6100 0613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Course page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https://www.tertiarycourses.com.sg/wsq-agentic-ai-for-affiliate-marketing.html</a:t>
            </a:r>
          </a:p>
        </p:txBody>
      </p:sp>
    </p:spTree>
  </p:cSld>
  <p:clrMapOvr>
    <a:masterClrMapping/>
  </p:clrMapOvr>
  <p:transition spd="fast">
    <p:fade/>
  </p:transition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OPEN BOOK · 2 HOURS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Assessment Reminder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198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WA-SAQ · Knowledge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K1-K9 from the deck and LG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Three open-ended LO-grouped questions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 exact contracts, formulas and controls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Case Study · Ability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A1-A5 from the labs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Three integrated tasks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Show evidence, decisions and verification</a:t>
            </a:r>
          </a:p>
        </p:txBody>
      </p:sp>
    </p:spTree>
  </p:cSld>
  <p:clrMapOvr>
    <a:masterClrMapping/>
  </p:clrMapOvr>
  <p:transition spd="fast">
    <p:fade/>
  </p:transition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FINAL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Assessment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199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TRAQOM attendance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Assessment attendance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Complete WA-SAQ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Complete Case Study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Upload on LMS and sign record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FINAL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Digital Attendance (Mandatory)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200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Attendance recorded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PM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Attendance recorded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Assessment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Complete the final SSG attendance event</a:t>
            </a:r>
          </a:p>
        </p:txBody>
      </p:sp>
    </p:spTree>
  </p:cSld>
  <p:clrMapOvr>
    <a:masterClrMapping/>
  </p:clrMapOvr>
  <p:transition spd="fast">
    <p:fade/>
  </p:transition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1074420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4800" b="1">
                <a:solidFill>
                  <a:srgbClr val="21201C"/>
                </a:solidFill>
                <a:latin typeface="Cambria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182112"/>
            <a:ext cx="99669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3A7D7B"/>
                </a:solidFill>
                <a:latin typeface="Cambria"/>
              </a:rPr>
              <a:t>Build agentic campaigns that are useful, measurable and controlled.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224528"/>
            <a:ext cx="996696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TGS-2025060552</a:t>
            </a:r>
          </a:p>
        </p:txBody>
      </p:sp>
    </p:spTree>
  </p:cSld>
  <p:clrMapOvr>
    <a:masterClrMapping/>
  </p:clrMapOvr>
  <p:transition spd="fast">
    <p:fade/>
  </p:transition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Login to LMS and Download Course Material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8</a:t>
            </a:r>
          </a:p>
        </p:txBody>
      </p:sp>
      <p:pic>
        <p:nvPicPr>
          <p:cNvPr id="10" name="Picture 9" descr="ref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0635" y="1668780"/>
            <a:ext cx="8390424" cy="4174236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21792" y="5925312"/>
            <a:ext cx="10948111" cy="459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>
                <a:solidFill>
                  <a:srgbClr val="475569"/>
                </a:solidFill>
                <a:latin typeface="Cambria"/>
              </a:rPr>
              <a:t>Log in at lms-tms.tertiaryinfotech.com with your registered email and the OTP sent to your inbox, then open this course to download the slides and Learner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