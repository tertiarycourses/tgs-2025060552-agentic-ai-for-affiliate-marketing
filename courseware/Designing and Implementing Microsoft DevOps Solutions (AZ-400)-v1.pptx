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3.xml" ContentType="application/vnd.openxmlformats-officedocument.presentationml.slide+xml"/>
  <Override PartName="/ppt/slides/slide11.xml" ContentType="application/vnd.openxmlformats-officedocument.presentationml.slide+xml"/>
  <Override PartName="/ppt/slides/slide113.xml" ContentType="application/vnd.openxmlformats-officedocument.presentationml.slide+xml"/>
  <Override PartName="/ppt/slides/slide115.xml" ContentType="application/vnd.openxmlformats-officedocument.presentationml.slide+xml"/>
  <Override PartName="/ppt/slides/slide12.xml" ContentType="application/vnd.openxmlformats-officedocument.presentationml.slide+xml"/>
  <Override PartName="/ppt/slides/slide122.xml" ContentType="application/vnd.openxmlformats-officedocument.presentationml.slide+xml"/>
  <Override PartName="/ppt/slides/slide13.xml" ContentType="application/vnd.openxmlformats-officedocument.presentationml.slide+xml"/>
  <Override PartName="/ppt/slides/slide135.xml" ContentType="application/vnd.openxmlformats-officedocument.presentationml.slide+xml"/>
  <Override PartName="/ppt/slides/slide137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41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2.xml" ContentType="application/vnd.openxmlformats-officedocument.presentationml.slide+xml"/>
  <Override PartName="/ppt/slides/slide54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2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5.xml" ContentType="application/vnd.openxmlformats-officedocument.presentationml.slide+xml"/>
  <Override PartName="/ppt/slides/slide8.xml" ContentType="application/vnd.openxmlformats-officedocument.presentationml.slide+xml"/>
  <Override PartName="/ppt/slides/slide86.xml" ContentType="application/vnd.openxmlformats-officedocument.presentationml.slide+xml"/>
  <Override PartName="/ppt/slides/slide88.xml" ContentType="application/vnd.openxmlformats-officedocument.presentationml.slide+xml"/>
  <Override PartName="/ppt/slides/slide9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96" r:id="rId47"/>
    <p:sldId id="298" r:id="rId49"/>
    <p:sldId id="305" r:id="rId56"/>
    <p:sldId id="307" r:id="rId58"/>
    <p:sldId id="309" r:id="rId60"/>
    <p:sldId id="314" r:id="rId65"/>
    <p:sldId id="315" r:id="rId66"/>
    <p:sldId id="317" r:id="rId68"/>
    <p:sldId id="322" r:id="rId73"/>
    <p:sldId id="323" r:id="rId74"/>
    <p:sldId id="325" r:id="rId76"/>
    <p:sldId id="330" r:id="rId81"/>
    <p:sldId id="341" r:id="rId92"/>
    <p:sldId id="343" r:id="rId94"/>
    <p:sldId id="350" r:id="rId101"/>
    <p:sldId id="351" r:id="rId102"/>
    <p:sldId id="353" r:id="rId104"/>
    <p:sldId id="358" r:id="rId109"/>
    <p:sldId id="368" r:id="rId119"/>
    <p:sldId id="370" r:id="rId121"/>
    <p:sldId id="377" r:id="rId128"/>
    <p:sldId id="390" r:id="rId141"/>
    <p:sldId id="392" r:id="rId143"/>
    <p:sldId id="405" r:id="rId156"/>
    <p:sldId id="470" r:id="rId2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6" Type="http://schemas.openxmlformats.org/officeDocument/2006/relationships/slide" Target="slides/slide50.xml"/><Relationship Id="rId58" Type="http://schemas.openxmlformats.org/officeDocument/2006/relationships/slide" Target="slides/slide52.xml"/><Relationship Id="rId60" Type="http://schemas.openxmlformats.org/officeDocument/2006/relationships/slide" Target="slides/slide54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8" Type="http://schemas.openxmlformats.org/officeDocument/2006/relationships/slide" Target="slides/slide62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6" Type="http://schemas.openxmlformats.org/officeDocument/2006/relationships/slide" Target="slides/slide70.xml"/><Relationship Id="rId81" Type="http://schemas.openxmlformats.org/officeDocument/2006/relationships/slide" Target="slides/slide75.xml"/><Relationship Id="rId92" Type="http://schemas.openxmlformats.org/officeDocument/2006/relationships/slide" Target="slides/slide86.xml"/><Relationship Id="rId94" Type="http://schemas.openxmlformats.org/officeDocument/2006/relationships/slide" Target="slides/slide88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4" Type="http://schemas.openxmlformats.org/officeDocument/2006/relationships/slide" Target="slides/slide98.xml"/><Relationship Id="rId109" Type="http://schemas.openxmlformats.org/officeDocument/2006/relationships/slide" Target="slides/slide103.xml"/><Relationship Id="rId119" Type="http://schemas.openxmlformats.org/officeDocument/2006/relationships/slide" Target="slides/slide113.xml"/><Relationship Id="rId121" Type="http://schemas.openxmlformats.org/officeDocument/2006/relationships/slide" Target="slides/slide115.xml"/><Relationship Id="rId128" Type="http://schemas.openxmlformats.org/officeDocument/2006/relationships/slide" Target="slides/slide122.xml"/><Relationship Id="rId141" Type="http://schemas.openxmlformats.org/officeDocument/2006/relationships/slide" Target="slides/slide135.xml"/><Relationship Id="rId143" Type="http://schemas.openxmlformats.org/officeDocument/2006/relationships/slide" Target="slides/slide137.xml"/><Relationship Id="rId156" Type="http://schemas.openxmlformats.org/officeDocument/2006/relationships/slide" Target="slides/slide150.xml"/><Relationship Id="rId221" Type="http://schemas.openxmlformats.org/officeDocument/2006/relationships/slide" Target="slides/slide2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pic>
        <p:nvPicPr>
          <p:cNvPr id="6" name="Picture 5" descr="n8n-cours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58368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LEARNER GUIDE  ·  COURSE SLIDES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10972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Designing and Implementing Microsoft DevOps Solutions (AZ-400)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93192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25196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t>WSQ Course Code: TGS-2024042605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t>Conducted by Tertiary Infotech Academy Pte Ltd  ·  UEN 201200696W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t>Version v1  ·  8 July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89320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TRAQOM +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t>•  Take AM, PM and assessment digital attendance where required.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t>•  Use the registered learner identity throughout the course.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t>•  Minimum attendance requirements apply for funding and assessment records.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4B5563"/>
                </a:solidFill>
              </a:rPr>
              <a:t>YOUR TRAINER ·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11827"/>
                </a:solidFill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11827"/>
                </a:solidFill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</a:rPr>
              <a:t>General Trainer template —</a:t>
            </a:r>
          </a:p>
          <a:p>
            <a:pPr algn="ctr"/>
            <a:r>
              <a:rPr sz="1300" b="0">
                <a:solidFill>
                  <a:srgbClr val="4B5563"/>
                </a:solidFill>
              </a:rPr>
              <a:t>to be completed by the trainer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</a:rPr>
              <a:t>NAME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</a:rPr>
              <a:t>TITLE / DESIGNATION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</a:rPr>
              <a:t>QUALIFICATIONS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</a:rPr>
              <a:t>____________________________________________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</a:rPr>
              <a:t>AREAS OF EXPERTISE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</a:rPr>
              <a:t>____________________________________________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</a:rPr>
              <a:t>TRAINING &amp; INDUSTRY EXPERIENCE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</a:rPr>
              <a:t>____________________________________________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</a:rPr>
              <a:t>CONTACT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11827"/>
                </a:solidFill>
              </a:rPr>
              <a:t>____________________________________________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11827"/>
                </a:solidFill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11827"/>
                </a:solidFill>
              </a:rPr>
              <a:t>Dr.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</a:rPr>
              <a:t>Principal Trainer</a:t>
            </a:r>
          </a:p>
          <a:p>
            <a:pPr algn="ctr"/>
            <a:r>
              <a:rPr sz="1300" b="0">
                <a:solidFill>
                  <a:srgbClr val="4B5563"/>
                </a:solidFill>
              </a:rPr>
              <a:t>Tertiary Infotech Academy Pte. Ltd.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11827"/>
                </a:solidFill>
              </a:rPr>
              <a:t>ROLE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11827"/>
                </a:solidFill>
              </a:rPr>
              <a:t>Principal Trainer, Tertiary Infotech Academy Pte. Ltd.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11827"/>
                </a:solidFill>
              </a:rPr>
              <a:t>QUALIFICATIONS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11827"/>
                </a:solidFill>
              </a:rPr>
              <a:t>PhD — specialises in AI, automation and software engineering.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11827"/>
                </a:solidFill>
              </a:rPr>
              <a:t>DELIVERS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11827"/>
                </a:solidFill>
              </a:rPr>
              <a:t>WSQ courses on AI agents, automation (n8n) and app development.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11827"/>
                </a:solidFill>
              </a:rPr>
              <a:t>FOUNDER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11827"/>
                </a:solidFill>
              </a:rPr>
              <a:t>Founder and lead instructor at Tertiary Infotech / Tertiary Courses.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t>•  Your name and organisation or role.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t>•  Your experience with DevOps, Azure DevOps, GitHub or CI/CD.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t>•  One delivery problem you want automation to solve.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Participate actively during hands-on labs.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Do not expose secrets, tokens, service connections or production data.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Clean up billable Azure resources after the labs.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Ask before changing shared demo environments.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Return from breaks on time.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Keep lab evidence ready for review.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COURSE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LMS / TMS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t>•  Access course materials, attendance and assessment through the LMS/TMS portal.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t>•  Use the Learner Guide and copied lab source for step-by-step practice.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GET THE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Download the Course Labs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96596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9659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942746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Open the AZ-400 lab repository from the course link.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35224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35224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311810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311810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3026664"/>
            <a:ext cx="942746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Use the copy in courseware/labs-source for offline reference.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27024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27024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942746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Complete the labs in order.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239512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239512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5422392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542239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5330952"/>
            <a:ext cx="942746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Keep screenshots, URLs or pipeline run links as evidence.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Lesson Plan - 2 Days, 8 hours/day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Day 1: DevOps process, source control, YAML CI and release pipelines.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Day 2: IaC, DevSecOps, monitoring and capstone integration.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t>LP schedule includes slide numbers for each activity.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</a:p>
          <a:p>
            <a:pPr>
              <a:spcBef>
                <a:spcPts val="0"/>
              </a:spcBef>
              <a:spcAft>
                <a:spcPts val="1000"/>
              </a:spcAft>
            </a:pPr>
          </a:p>
          <a:p>
            <a:pPr>
              <a:spcBef>
                <a:spcPts val="0"/>
              </a:spcBef>
              <a:spcAft>
                <a:spcPts val="1000"/>
              </a:spcAft>
            </a:pPr>
          </a:p>
          <a:p>
            <a:pPr>
              <a:spcBef>
                <a:spcPts val="0"/>
              </a:spcBef>
              <a:spcAft>
                <a:spcPts val="1000"/>
              </a:spcAft>
            </a:pPr>
          </a:p>
          <a:p>
            <a:pPr>
              <a:spcBef>
                <a:spcPts val="0"/>
              </a:spcBef>
              <a:spcAft>
                <a:spcPts val="1000"/>
              </a:spcAft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</a:p>
          <a:p>
            <a:pPr>
              <a:spcBef>
                <a:spcPts val="0"/>
              </a:spcBef>
              <a:spcAft>
                <a:spcPts val="1000"/>
              </a:spcAft>
            </a:pPr>
          </a:p>
          <a:p>
            <a:pPr>
              <a:spcBef>
                <a:spcPts val="0"/>
              </a:spcBef>
              <a:spcAft>
                <a:spcPts val="1000"/>
              </a:spcAft>
            </a:pPr>
          </a:p>
          <a:p>
            <a:pPr>
              <a:spcBef>
                <a:spcPts val="0"/>
              </a:spcBef>
              <a:spcAft>
                <a:spcPts val="1000"/>
              </a:spcAft>
            </a:pPr>
          </a:p>
          <a:p>
            <a:pPr>
              <a:spcBef>
                <a:spcPts val="0"/>
              </a:spcBef>
              <a:spcAft>
                <a:spcPts val="1000"/>
              </a:spcAft>
            </a:pPr>
          </a:p>
          <a:p>
            <a:pPr>
              <a:spcBef>
                <a:spcPts val="0"/>
              </a:spcBef>
              <a:spcAft>
                <a:spcPts val="1000"/>
              </a:spcAft>
            </a:pPr>
          </a:p>
          <a:p>
            <a:pPr>
              <a:spcBef>
                <a:spcPts val="0"/>
              </a:spcBef>
              <a:spcAft>
                <a:spcPts val="1000"/>
              </a:spcAft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WHAT YOU'LL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9427464" cy="5376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Design DevOps processes with traceability from work item to deployment.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2796235"/>
            <a:ext cx="9427464" cy="5376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Implement source control, pull requests and review practices.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717950"/>
            <a:ext cx="9427464" cy="5376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Create YAML CI pipelines with tests and artifacts.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639665"/>
            <a:ext cx="9427464" cy="5376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Apply IaC, DevSecOps, monitoring and feedback loops.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5561380"/>
            <a:ext cx="9427464" cy="5376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Complete an end-to-end AZ-400 capstone workflow.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t>Assessment Briefing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t>•  Follow trainer instructions for written and practical assessment evidence.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t>•  No unauthorised materials, photos or recording during assessment.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t>•  Submit required evidence through the assigned platform.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</a:p>
          <a:p>
            <a:pPr>
              <a:spcBef>
                <a:spcPts val="0"/>
              </a:spcBef>
              <a:spcAft>
                <a:spcPts val="1000"/>
              </a:spcAft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t>•  Written or short-answer assessment as instructed.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t>•  Practical performance evidence from labs and capstone.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t>•  Format and timing to be confirmed by trainer.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</a:p>
          <a:p>
            <a:pPr>
              <a:spcBef>
                <a:spcPts val="0"/>
              </a:spcBef>
              <a:spcAft>
                <a:spcPts val="1000"/>
              </a:spcAft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1328" y="3860000"/>
            <a:ext cx="1450000" cy="4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>
                <a:solidFill>
                  <a:srgbClr val="000000"/>
                </a:solidFill>
              </a:rPr>
              <a:t>ID check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80401" y="3860000"/>
            <a:ext cx="1450000" cy="4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>
                <a:solidFill>
                  <a:srgbClr val="000000"/>
                </a:solidFill>
              </a:rPr>
              <a:t>Briefing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69474" y="3860000"/>
            <a:ext cx="1450000" cy="4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>
                <a:solidFill>
                  <a:srgbClr val="000000"/>
                </a:solidFill>
              </a:rPr>
              <a:t>Written test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58547" y="3860000"/>
            <a:ext cx="1450000" cy="4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>
                <a:solidFill>
                  <a:srgbClr val="000000"/>
                </a:solidFill>
              </a:rPr>
              <a:t>Practical evidence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47620" y="3860000"/>
            <a:ext cx="1450000" cy="4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>
                <a:solidFill>
                  <a:srgbClr val="000000"/>
                </a:solidFill>
              </a:rPr>
              <a:t>Sign-off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Azure DevOps Delivery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Plan + Code + Build + Release + Operate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The eight labs build one traceable DevOps solution in sequence.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TOPIC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is about designing delivery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t>•  The course focuses on repeatable software delivery, security, governance and feedback.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t>•  Learners practise design tradeoffs, not only tool commands.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</a:p>
          <a:p>
            <a:pPr>
              <a:spcBef>
                <a:spcPts val="0"/>
              </a:spcBef>
              <a:spcAft>
                <a:spcPts val="1000"/>
              </a:spcAft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Core DevOps Capabilities Practised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Boards and traceability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t>IaC, DevSecOps, monitoring and feedback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</a:p>
          <a:p>
            <a:pPr>
              <a:spcBef>
                <a:spcPts val="0"/>
              </a:spcBef>
              <a:spcAft>
                <a:spcPts val="900"/>
              </a:spcAft>
            </a:pP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Repos, branches and pull requests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</a:p>
          <a:p>
            <a:pPr>
              <a:spcBef>
                <a:spcPts val="0"/>
              </a:spcBef>
              <a:spcAft>
                <a:spcPts val="900"/>
              </a:spcAft>
            </a:pPr>
          </a:p>
          <a:p>
            <a:pPr>
              <a:spcBef>
                <a:spcPts val="0"/>
              </a:spcBef>
              <a:spcAft>
                <a:spcPts val="900"/>
              </a:spcAft>
            </a:pP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YAML CI, artifacts and releases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</a:p>
          <a:p>
            <a:pPr>
              <a:spcBef>
                <a:spcPts val="0"/>
              </a:spcBef>
              <a:spcAft>
                <a:spcPts val="900"/>
              </a:spcAft>
            </a:pPr>
          </a:p>
          <a:p>
            <a:pPr>
              <a:spcBef>
                <a:spcPts val="0"/>
              </a:spcBef>
              <a:spcAft>
                <a:spcPts val="900"/>
              </a:spcAft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WHY DEVOPS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DevOps connects work, code and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2976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•  Traceability shows why a change exists, how it was built, where it deployed and what happened after release.</a:t>
            </a:r>
          </a:p>
          <a:p>
            <a:r>
              <a:t>•  This is the thread followed through all labs.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THE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Azure DevOps and GitHub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t>•  Use Azure DevOps or GitHub for work tracking, repositories, pipelines and delivery evidence.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t>•  Use Azure, Bicep and monitoring tools for deployment and operations practice.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</a:p>
        </p:txBody>
      </p:sp>
      <p:sp>
        <p:nvSpPr>
          <p:cNvPr id="8" name="Rectangle 7"/>
          <p:cNvSpPr/>
          <p:nvPr/>
        </p:nvSpPr>
        <p:spPr>
          <a:xfrm>
            <a:off x="5870448" y="1755648"/>
            <a:ext cx="5650992" cy="35844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ite-n8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486400" cy="342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Why automate delivery?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t>•  Reduce manual release risk.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t>•  Make builds, tests and deployments repeatable.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t>•  Create fast feedback from code, security, telemetry and users.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20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01 - DevOps Processes, Boards, and Traceability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t>LAB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Create a work tracking structure. Link work to code and releases. Define DevOps metrics.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Boards  →  Branch  →  Commit  →  Pull Request  →  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Key tools: Azure DevOps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21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01 - DevOps Processes, Boards, and Traceability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STEP 1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Create or open an Azure DevOps project or GitHub repository.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22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01 - DevOps Processes, Boards, and Traceability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•  Work items follow a clear hierarchy.</a:t>
            </a:r>
          </a:p>
          <a:p>
            <a:r>
              <a:t>•  Traceability includes work, code, pipeline, and release evidence.</a:t>
            </a:r>
          </a:p>
          <a:p>
            <a:r>
              <a:t>•  Metrics are defined.</a:t>
            </a:r>
          </a:p>
          <a:p>
            <a:r>
              <a:t>•  Documentation is readable.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23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02 - Source Control, Branching, and Pull Requests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t>LAB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Choose a branch strategy. Configure pull request workflow. Apply branch protection or policies.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Repository  →  Branch  →  Pull Request  → 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Key tools: Azure DevOps, Git, Repos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24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02 - Source Control, Branching, and Pull Requests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STEP 1 OF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Create or open a Git repository.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25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02 - Source Control, Branching, and Pull Requests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•  Branch strategy fits the team scenario.</a:t>
            </a:r>
          </a:p>
          <a:p>
            <a:r>
              <a:t>•  Pull request includes review and checks.</a:t>
            </a:r>
          </a:p>
          <a:p>
            <a:r>
              <a:t>•  Tagging convention is documented.</a:t>
            </a:r>
          </a:p>
          <a:p>
            <a:r>
              <a:t>•  Git recovery step is successful.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26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03 - YAML CI Pipelines, Testing, and Artifacts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t>LAB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Create a YAML CI pipeline. Configure triggers. Run tests.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YAML Pipeline  →  Build  →  Test  →  Artifact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Key tools: Azure DevOps, Pipelines, Artifacts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27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03 - YAML CI Pipelines, Testing, and Artifacts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STEP 1 OF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Use a sample application repository.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28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03 - YAML CI Pipelines, Testing, and Artifacts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•  Pipeline triggers correctly.</a:t>
            </a:r>
          </a:p>
          <a:p>
            <a:r>
              <a:t>•  Tests run.</a:t>
            </a:r>
          </a:p>
          <a:p>
            <a:r>
              <a:t>•  Artifact is published.</a:t>
            </a:r>
          </a:p>
          <a:p>
            <a:r>
              <a:t>•  Failure is documented and fixed.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29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04 - Release Pipelines and Deployment Strategies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t>LAB 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Design release stages. Configure environments and approvals. Compare deployment strategies.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Artifact  →  Environment  →  Approval  →  Deployment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Key tools: Azure DevOps, Pipelines, Artifacts, Environments, Approvals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30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04 - Release Pipelines and Deployment Strategies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STEP 1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Define dev, test, staging, and production environments.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31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04 - Release Pipelines and Deployment Strategies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•  Deployment strategy matches risk and downtime needs.</a:t>
            </a:r>
          </a:p>
          <a:p>
            <a:r>
              <a:t>•  Approval/check evidence is captured.</a:t>
            </a:r>
          </a:p>
          <a:p>
            <a:r>
              <a:t>•  Rollback path is clear.</a:t>
            </a:r>
          </a:p>
          <a:p>
            <a:r>
              <a:t>•  Release notes are generated or drafted.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32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05 - Infrastructure as Code with Bicep and 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t>LAB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Define IaC strategy. Create a Bicep or template file. Validate deployment.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Bicep Template  →  Validation  →  Deployment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Key tools: Azure DevOps, Azure CLI, Bicep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33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05 - Infrastructure as Code with Bicep and 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STEP 1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Identify infrastructure required by the sample app.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34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05 - Infrastructure as Code with Bicep and 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•  Template is parameterized.</a:t>
            </a:r>
          </a:p>
          <a:p>
            <a:r>
              <a:t>•  Tags are included.</a:t>
            </a:r>
          </a:p>
          <a:p>
            <a:r>
              <a:t>•  Validation or deployment evidence is captured.</a:t>
            </a:r>
          </a:p>
          <a:p>
            <a:r>
              <a:t>•  Drift and review controls are documented.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35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06 - DevSecOps, Secrets, and Compliance Scanning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t>LAB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Manage secrets safely. Design secure pipeline authentication. Configure scanning checks.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Secrets  →  Scanning  →  Compliance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Key tools: Azure DevOps, Secrets, Security scanning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36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06 - DevSecOps, Secrets, and Compliance Scanning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STEP 1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Identify secrets used by the sample app or pipeline.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37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06 - DevSecOps, Secrets, and Compliance Scanning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•  No secrets are stored in code.</a:t>
            </a:r>
          </a:p>
          <a:p>
            <a:r>
              <a:t>•  Authentication design follows least privilege.</a:t>
            </a:r>
          </a:p>
          <a:p>
            <a:r>
              <a:t>•  Scanning plan covers code, dependencies, secrets, and containers.</a:t>
            </a:r>
          </a:p>
          <a:p>
            <a:r>
              <a:t>•  Evidence table is audit-friendly.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38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07 - Instrumentation, Monitoring, KQL, and Feedback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t>LAB 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Design monitoring strategy. Review Azure Monitor and Application Insights. Write KQL queries.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Telemetry  →  KQL  →  Dashboard  →  Feedback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Key tools: Azure DevOps, Application Insights, KQL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39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07 - Instrumentation, Monitoring, KQL, and Feedback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STEP 1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Identify telemetry required for the sample application.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40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07 - Instrumentation, Monitoring, KQL, and Feedback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•  Metrics connect to operational decisions.</a:t>
            </a:r>
          </a:p>
          <a:p>
            <a:r>
              <a:t>•  Alerts have clear action.</a:t>
            </a:r>
          </a:p>
          <a:p>
            <a:r>
              <a:t>•  KQL queries are documented.</a:t>
            </a:r>
          </a:p>
          <a:p>
            <a:r>
              <a:t>•  Feedback loop is practical.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41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08 - AZ-400 Capstone: End-to-End DevOps Solution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t>LAB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Design a complete DevOps solution. Combine work tracking, source control, pipelines, security, and monitoring. Make tradeoff decisions.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Plan  →  Code  →  Build  →  Release  →  Monitor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Key tools: Azure DevOps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42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08 - AZ-400 Capstone: End-to-End DevOps Solution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STEP 1 OF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Review the trainer-provided scenario.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43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08 - AZ-400 Capstone: End-to-End DevOps Solution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•  Solution includes traceability.</a:t>
            </a:r>
          </a:p>
          <a:p>
            <a:r>
              <a:t>•  Pipeline strategy covers build, test, release, and rollback.</a:t>
            </a:r>
          </a:p>
          <a:p>
            <a:r>
              <a:t>•  Security and monitoring are built in.</a:t>
            </a:r>
          </a:p>
          <a:p>
            <a:r>
              <a:t>•  Study plan targets weak domains.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44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Presentation &amp;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t>•  Present the problem, your design, evidence and what you would improve.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t>•  Complete written and practical assessment tasks as instructed.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t>•  Submit evidence through the LMS/TMS portal.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t>•  Remember the assessment digital attendance requirement.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