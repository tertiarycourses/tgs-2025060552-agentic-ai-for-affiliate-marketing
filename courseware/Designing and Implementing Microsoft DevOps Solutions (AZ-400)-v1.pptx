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13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35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2.xml" ContentType="application/vnd.openxmlformats-officedocument.presentationml.slide+xml"/>
  <Override PartName="/ppt/slides/slide54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2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86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96" r:id="rId47"/>
    <p:sldId id="298" r:id="rId49"/>
    <p:sldId id="305" r:id="rId56"/>
    <p:sldId id="307" r:id="rId58"/>
    <p:sldId id="309" r:id="rId60"/>
    <p:sldId id="314" r:id="rId65"/>
    <p:sldId id="315" r:id="rId66"/>
    <p:sldId id="317" r:id="rId68"/>
    <p:sldId id="322" r:id="rId73"/>
    <p:sldId id="323" r:id="rId74"/>
    <p:sldId id="325" r:id="rId76"/>
    <p:sldId id="330" r:id="rId81"/>
    <p:sldId id="341" r:id="rId92"/>
    <p:sldId id="343" r:id="rId94"/>
    <p:sldId id="350" r:id="rId101"/>
    <p:sldId id="351" r:id="rId102"/>
    <p:sldId id="353" r:id="rId104"/>
    <p:sldId id="358" r:id="rId109"/>
    <p:sldId id="368" r:id="rId119"/>
    <p:sldId id="370" r:id="rId121"/>
    <p:sldId id="377" r:id="rId128"/>
    <p:sldId id="390" r:id="rId141"/>
    <p:sldId id="392" r:id="rId143"/>
    <p:sldId id="405" r:id="rId156"/>
    <p:sldId id="470" r:id="rId2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6" Type="http://schemas.openxmlformats.org/officeDocument/2006/relationships/slide" Target="slides/slide50.xml"/><Relationship Id="rId58" Type="http://schemas.openxmlformats.org/officeDocument/2006/relationships/slide" Target="slides/slide52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8" Type="http://schemas.openxmlformats.org/officeDocument/2006/relationships/slide" Target="slides/slide62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6" Type="http://schemas.openxmlformats.org/officeDocument/2006/relationships/slide" Target="slides/slide70.xml"/><Relationship Id="rId81" Type="http://schemas.openxmlformats.org/officeDocument/2006/relationships/slide" Target="slides/slide75.xml"/><Relationship Id="rId92" Type="http://schemas.openxmlformats.org/officeDocument/2006/relationships/slide" Target="slides/slide86.xml"/><Relationship Id="rId94" Type="http://schemas.openxmlformats.org/officeDocument/2006/relationships/slide" Target="slides/slide88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19" Type="http://schemas.openxmlformats.org/officeDocument/2006/relationships/slide" Target="slides/slide113.xml"/><Relationship Id="rId121" Type="http://schemas.openxmlformats.org/officeDocument/2006/relationships/slide" Target="slides/slide115.xml"/><Relationship Id="rId128" Type="http://schemas.openxmlformats.org/officeDocument/2006/relationships/slide" Target="slides/slide122.xml"/><Relationship Id="rId141" Type="http://schemas.openxmlformats.org/officeDocument/2006/relationships/slide" Target="slides/slide135.xml"/><Relationship Id="rId143" Type="http://schemas.openxmlformats.org/officeDocument/2006/relationships/slide" Target="slides/slide137.xml"/><Relationship Id="rId156" Type="http://schemas.openxmlformats.org/officeDocument/2006/relationships/slide" Target="slides/slide150.xml"/><Relationship Id="rId221" Type="http://schemas.openxmlformats.org/officeDocument/2006/relationships/slide" Target="slides/slide2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n8n-cours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65836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LEARNER GUIDE  ·  COURSE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Designing and Implementing Microsoft DevOps Solutions (AZ-400)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93192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t>WSQ Course Code: TGS-2024042605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t>Conducted by Tertiary Infotech Academy Pte Ltd  ·  UEN 201200696W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t>Version v1  ·  8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TRAQOM +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t>•  Take AM, PM and assessment digital attendance where required.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Use the registered learner identity throughout the course.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Minimum attendance requirements apply for funding and assessment records.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30352"/>
            <a:ext cx="73152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4B5563"/>
                </a:solidFill>
                <a:latin typeface="Arial"/>
              </a:defRPr>
            </a:pPr>
            <a: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50392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Arial"/>
              </a:defRPr>
            </a:pPr>
            <a: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81328"/>
            <a:ext cx="1060704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246120" cy="4069080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73152" cy="8229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240280"/>
            <a:ext cx="1554480" cy="155448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416052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</a:defRPr>
            </a:pPr>
            <a: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464515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4B5563"/>
                </a:solidFill>
                <a:latin typeface="Arial"/>
              </a:defRPr>
            </a:pPr>
            <a:r>
              <a:t>General Trainer template —</a:t>
            </a:r>
          </a:p>
          <a:p>
            <a:pPr algn="ctr">
              <a:defRPr sz="1150" b="1">
                <a:solidFill>
                  <a:srgbClr val="4B5563"/>
                </a:solidFill>
                <a:latin typeface="Arial"/>
              </a:defRPr>
            </a:pPr>
            <a:r>
              <a:t>to be completed by the trainer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6537960" cy="56692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93852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1F6FEB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1728" y="2185416"/>
            <a:ext cx="3977639" cy="1371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496312"/>
            <a:ext cx="6537960" cy="56692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496312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26517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10B981"/>
                </a:solidFill>
                <a:latin typeface="Arial"/>
              </a:defRPr>
            </a:pPr>
            <a:r>
              <a:t>TITLE / DESIGNATION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2898648"/>
            <a:ext cx="3977639" cy="1371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3209544"/>
            <a:ext cx="6537960" cy="56692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209544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364991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C3AED"/>
                </a:solidFill>
                <a:latin typeface="Arial"/>
              </a:defRPr>
            </a:pPr>
            <a:r>
              <a:t>QUALIFICATIONS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1728" y="3611879"/>
            <a:ext cx="3977639" cy="1371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922776"/>
            <a:ext cx="6537960" cy="56692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922776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4078224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59E0B"/>
                </a:solidFill>
                <a:latin typeface="Arial"/>
              </a:defRPr>
            </a:pPr>
            <a:r>
              <a:t>AREAS OF EXPERTISE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4325112"/>
            <a:ext cx="3977639" cy="1371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4636008"/>
            <a:ext cx="6537960" cy="56692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4636008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4791456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1F6FEB"/>
                </a:solidFill>
                <a:latin typeface="Arial"/>
              </a:defRPr>
            </a:pPr>
            <a:r>
              <a:t>TRAINING &amp; INDUSTRY EXPERIENCE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5038344"/>
            <a:ext cx="3977639" cy="1371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5349240"/>
            <a:ext cx="6537960" cy="56692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534924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55046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10B981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1728" y="5751576"/>
            <a:ext cx="3977639" cy="1371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6419088"/>
            <a:ext cx="4297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</a:defRPr>
            </a:pPr>
            <a:r>
              <a:t>AZ-400 DevOps Solutions  ·  TGS-2024042605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641908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>
                <a:solidFill>
                  <a:srgbClr val="4B5563"/>
                </a:solidFill>
              </a:defRPr>
            </a:pPr>
            <a: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1182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30352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F6FEB"/>
                </a:solidFill>
                <a:latin typeface="Arial"/>
              </a:defRPr>
            </a:pPr>
            <a: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50392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Arial"/>
              </a:defRPr>
            </a:pPr>
            <a: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81328"/>
            <a:ext cx="1060704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1865376"/>
            <a:ext cx="3246120" cy="40690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3246120" cy="4069080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73152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4208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</a:defRPr>
            </a:pPr>
            <a: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66344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4B5563"/>
                </a:solidFill>
                <a:latin typeface="Arial"/>
              </a:defRPr>
            </a:pPr>
            <a:r>
              <a:t>Principal Trainer</a:t>
            </a:r>
          </a:p>
          <a:p>
            <a:pPr algn="ctr">
              <a:defRPr sz="1150" b="1">
                <a:solidFill>
                  <a:srgbClr val="4B5563"/>
                </a:solidFill>
                <a:latin typeface="Arial"/>
              </a:defRPr>
            </a:pPr>
            <a:r>
              <a:t>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865376"/>
            <a:ext cx="6629400" cy="74980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6629400" cy="74980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28800"/>
            <a:ext cx="73152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84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1F6FEB"/>
                </a:solidFill>
                <a:latin typeface="Arial"/>
              </a:defRPr>
            </a:pPr>
            <a: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17627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</a:defRPr>
            </a:pPr>
            <a:r>
              <a:t>Principal Trainer, Tertiary Infotech Academy Pte. Ltd.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2272" y="2916936"/>
            <a:ext cx="6629400" cy="74980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880360"/>
            <a:ext cx="6629400" cy="74980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880360"/>
            <a:ext cx="73152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03580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10B981"/>
                </a:solidFill>
                <a:latin typeface="Arial"/>
              </a:defRPr>
            </a:pPr>
            <a:r>
              <a:t>QUALIFICATIONS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22783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</a:defRPr>
            </a:pPr>
            <a:r>
              <a:t>PhD — specialises in AI, automation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3968496"/>
            <a:ext cx="6629400" cy="74980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931920"/>
            <a:ext cx="6629400" cy="74980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931920"/>
            <a:ext cx="73152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08736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C3AED"/>
                </a:solidFill>
                <a:latin typeface="Arial"/>
              </a:defRPr>
            </a:pPr>
            <a:r>
              <a:t>DELIVERS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2793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</a:defRPr>
            </a:pPr>
            <a:r>
              <a:t>WSQ courses on AI agents, automation (n8n), app development and DevOps delivery.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5020055"/>
            <a:ext cx="6629400" cy="74980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4983479"/>
            <a:ext cx="6629400" cy="749808"/>
          </a:xfrm>
          <a:prstGeom prst="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4983479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5138927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59E0B"/>
                </a:solidFill>
                <a:latin typeface="Arial"/>
              </a:defRPr>
            </a:pPr>
            <a:r>
              <a:t>FOUNDER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5330951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</a:defRPr>
            </a:pPr>
            <a:r>
              <a:t>Founder and lead instructor at Tertiary Infotech / Tertiary Courses.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19088"/>
            <a:ext cx="4297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</a:defRPr>
            </a:pPr>
            <a:r>
              <a:t>AZ-400 DevOps Solutions  ·  TGS-2024042605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641908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>
                <a:solidFill>
                  <a:srgbClr val="4B5563"/>
                </a:solidFill>
              </a:defRPr>
            </a:pPr>
            <a: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1182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t>•  Your name and organisation or role.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Your experience with DevOps, Azure DevOps, GitHub or CI/CD.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One delivery problem you want automation to solve.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30352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F6FEB"/>
                </a:solidFill>
                <a:latin typeface="Arial"/>
              </a:defRPr>
            </a:pPr>
            <a: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50392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Arial"/>
              </a:defRPr>
            </a:pPr>
            <a: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81328"/>
            <a:ext cx="1060704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257800" cy="1143000"/>
          </a:xfrm>
          <a:prstGeom prst="round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305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85416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  <a:latin typeface="Arial"/>
              </a:defRPr>
            </a:pPr>
            <a: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257800" cy="1143000"/>
          </a:xfrm>
          <a:prstGeom prst="round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78308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213055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85416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  <a:latin typeface="Arial"/>
              </a:defRPr>
            </a:pPr>
            <a:r>
              <a:t>Participate actively — no question is too small.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355848"/>
            <a:ext cx="5257800" cy="1143000"/>
          </a:xfrm>
          <a:prstGeom prst="round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3355848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70332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58184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  <a:latin typeface="Arial"/>
              </a:defRPr>
            </a:pPr>
            <a:r>
              <a:t>Mutual respect: agree to disagree.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3355848"/>
            <a:ext cx="5257800" cy="1143000"/>
          </a:xfrm>
          <a:prstGeom prst="round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3355848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370332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58184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  <a:latin typeface="Arial"/>
              </a:defRPr>
            </a:pPr>
            <a:r>
              <a:t>One conversation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928616"/>
            <a:ext cx="5257800" cy="1143000"/>
          </a:xfrm>
          <a:prstGeom prst="round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928616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276088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330952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  <a:latin typeface="Arial"/>
              </a:defRPr>
            </a:pPr>
            <a:r>
              <a:t>Be punctual; return from breaks on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4928616"/>
            <a:ext cx="5257800" cy="1143000"/>
          </a:xfrm>
          <a:prstGeom prst="roundRect">
            <a:avLst/>
          </a:prstGeom>
          <a:solidFill>
            <a:srgbClr val="F3F6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91072" y="4928616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5276088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330952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  <a:latin typeface="Arial"/>
              </a:defRPr>
            </a:pPr>
            <a:r>
              <a:t>75% attendance is required.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19088"/>
            <a:ext cx="4297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</a:defRPr>
            </a:pPr>
            <a:r>
              <a:t>AZ-400 DevOps Solutions  ·  TGS-2024042605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641908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>
                <a:solidFill>
                  <a:srgbClr val="4B5563"/>
                </a:solidFill>
              </a:defRPr>
            </a:pPr>
            <a: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1182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LMS / TMS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t>•  Access course materials, attendance and assessment through the LMS/TMS portal.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Use the Learner Guide and copied lab source for step-by-step practice.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GET THE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Download the Course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Open the AZ-400 lab repository from the course link.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Use the copy in courseware/labs-source for offline reference.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Complete the labs in order.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Keep screenshots, URLs or pipeline run links as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Lesson Plan - 2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Day 1: DevOps process, source control, YAML CI and release pipelines.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Day 2: IaC, DevSecOps, monitoring and capstone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t>LP schedule includes slide numbers for each activity.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Design DevOps processes with traceability from work item to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Implement source control, pull requests and review practices.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Create YAML CI pipelines with tests and artifacts.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Apply IaC, DevSecOps, monitoring and feedback loops.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Complete an end-to-end AZ-400 capstone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t>Assessment Briefing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Follow trainer instructions for written and practical assessment evidence.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No unauthorised materials, photos or recording during assessment.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Submit required evidence through the assigned platform.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30352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F6FEB"/>
                </a:solidFill>
                <a:latin typeface="Arial"/>
              </a:defRPr>
            </a:pPr>
            <a:r>
              <a:t>PRACTICE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50392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Arial"/>
              </a:defRPr>
            </a:pPr>
            <a:r>
              <a:t>Take the Online AZ-400 Practice Assessments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81328"/>
            <a:ext cx="1060704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56231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t>Reinforce the AZ-400 delivery lifecycle with realistic, scenario-style questions before assessment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9464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t>Use practice sets to test DevOps processes, source control, CI/CD, IaC, security and monitoring.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8269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t>Review mode helps you check the correct answer and revisit the concept after each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1421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9592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t>Complete practice questions from Google Classroom, then bring difficult items to the review session.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</a:defRPr>
            </a:pPr>
            <a:r>
              <a:t>Access and practise at: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6811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F6FEB"/>
                </a:solidFill>
                <a:latin typeface="Arial"/>
              </a:defRPr>
            </a:pPr>
            <a:r>
              <a:t>Google Classroom &gt; Practice Assessments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874519"/>
            <a:ext cx="5669280" cy="3977639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96128" y="2029968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02996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80" b="1">
                <a:solidFill>
                  <a:srgbClr val="111827"/>
                </a:solidFill>
                <a:latin typeface="Arial"/>
              </a:defRPr>
            </a:pPr>
            <a:r>
              <a:t>Tertiary Exams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02996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20" b="0">
                <a:solidFill>
                  <a:srgbClr val="111827"/>
                </a:solidFill>
                <a:latin typeface="Arial"/>
              </a:defRPr>
            </a:pPr>
            <a:r>
              <a:t>Practice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02996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20" b="0">
                <a:solidFill>
                  <a:srgbClr val="111827"/>
                </a:solidFill>
                <a:latin typeface="Arial"/>
              </a:defRPr>
            </a:pPr>
            <a:r>
              <a:t>Sign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1993392"/>
            <a:ext cx="530352" cy="237744"/>
          </a:xfrm>
          <a:prstGeom prst="roundRect">
            <a:avLst/>
          </a:prstGeom>
          <a:solidFill>
            <a:srgbClr val="1F6FEB"/>
          </a:solidFill>
          <a:ln w="762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33888" y="2057400"/>
            <a:ext cx="384048" cy="82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50" b="1">
                <a:solidFill>
                  <a:srgbClr val="FFFFFF"/>
                </a:solidFill>
                <a:latin typeface="Arial"/>
              </a:defRPr>
            </a:pPr>
            <a:r>
              <a:t>Get started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788920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50" b="0">
                <a:solidFill>
                  <a:srgbClr val="1F6FEB"/>
                </a:solidFill>
                <a:latin typeface="Arial"/>
              </a:defRPr>
            </a:pPr>
            <a:r>
              <a:t>All exams / Microsoft / AZ-400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309067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Arial"/>
              </a:defRPr>
            </a:pPr>
            <a:r>
              <a:t>Designing and Implementing Microsoft DevOps Solutions (AZ-400) Practice Assessments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42900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50" b="0">
                <a:solidFill>
                  <a:srgbClr val="4B5563"/>
                </a:solidFill>
                <a:latin typeface="Arial"/>
              </a:defRPr>
            </a:pPr>
            <a:r>
              <a:t>Practice questions for DevOps processes, continuous delivery, security, compliance, instrumentation and feedback.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3977639"/>
            <a:ext cx="100584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4728" y="4096512"/>
            <a:ext cx="5486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50" b="1">
                <a:solidFill>
                  <a:srgbClr val="4B5563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728" y="4270248"/>
            <a:ext cx="6858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80" b="1">
                <a:solidFill>
                  <a:srgbClr val="111827"/>
                </a:solidFill>
                <a:latin typeface="Arial"/>
              </a:defRPr>
            </a:pPr>
            <a:r>
              <a:t>Practice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24728" y="4462272"/>
            <a:ext cx="71323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0" y="3977639"/>
            <a:ext cx="100584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4096512"/>
            <a:ext cx="5486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50" b="1">
                <a:solidFill>
                  <a:srgbClr val="4B5563"/>
                </a:solidFill>
                <a:latin typeface="Arial"/>
              </a:defRPr>
            </a:pPr>
            <a:r>
              <a:t>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4270248"/>
            <a:ext cx="6858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80" b="1">
                <a:solidFill>
                  <a:srgbClr val="111827"/>
                </a:solidFill>
                <a:latin typeface="Arial"/>
              </a:defRPr>
            </a:pPr>
            <a:r>
              <a:t>AZ-400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67728" y="4462272"/>
            <a:ext cx="71323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01000" y="3977639"/>
            <a:ext cx="100584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7" y="4096512"/>
            <a:ext cx="5486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50" b="1">
                <a:solidFill>
                  <a:srgbClr val="4B5563"/>
                </a:solidFill>
                <a:latin typeface="Arial"/>
              </a:defRPr>
            </a:pPr>
            <a:r>
              <a:t>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0727" y="4270248"/>
            <a:ext cx="6858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80" b="1">
                <a:solidFill>
                  <a:srgbClr val="111827"/>
                </a:solidFill>
                <a:latin typeface="Arial"/>
              </a:defRPr>
            </a:pPr>
            <a:r>
              <a:t>Class link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0727" y="4462272"/>
            <a:ext cx="71323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715000" y="4709160"/>
            <a:ext cx="169164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3872" y="484632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20" b="1">
                <a:solidFill>
                  <a:srgbClr val="111827"/>
                </a:solidFill>
                <a:latin typeface="Arial"/>
              </a:defRPr>
            </a:pPr>
            <a:r>
              <a:t>Practice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3872" y="502920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" b="0">
                <a:solidFill>
                  <a:srgbClr val="4B5563"/>
                </a:solidFill>
                <a:latin typeface="Arial"/>
              </a:defRPr>
            </a:pPr>
            <a:r>
              <a:t>Review answers while revising each domain.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35240" y="4709160"/>
            <a:ext cx="169164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54112" y="4846320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20" b="1">
                <a:solidFill>
                  <a:srgbClr val="111827"/>
                </a:solidFill>
                <a:latin typeface="Arial"/>
              </a:defRPr>
            </a:pPr>
            <a:r>
              <a:t>Timed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4112" y="502920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" b="0">
                <a:solidFill>
                  <a:srgbClr val="4B5563"/>
                </a:solidFill>
                <a:latin typeface="Arial"/>
              </a:defRPr>
            </a:pPr>
            <a:r>
              <a:t>Build confidence before final assessment.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3127248"/>
            <a:ext cx="114300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39528" y="3273552"/>
            <a:ext cx="713232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" b="1">
                <a:solidFill>
                  <a:srgbClr val="4B5563"/>
                </a:solidFill>
                <a:latin typeface="Arial"/>
              </a:defRPr>
            </a:pPr>
            <a:r>
              <a:t>PRACTICE DETAILS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9528" y="3493008"/>
            <a:ext cx="7498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" b="1">
                <a:solidFill>
                  <a:srgbClr val="111827"/>
                </a:solidFill>
                <a:latin typeface="Arial"/>
              </a:defRPr>
            </a:pPr>
            <a:r>
              <a:t>Exam code      AZ-400</a:t>
            </a:r>
          </a:p>
          <a:p>
            <a:pPr algn="l">
              <a:defRPr sz="520" b="1">
                <a:solidFill>
                  <a:srgbClr val="111827"/>
                </a:solidFill>
                <a:latin typeface="Arial"/>
              </a:defRPr>
            </a:pPr>
            <a:r>
              <a:t>Use            Review</a:t>
            </a:r>
          </a:p>
          <a:p>
            <a:pPr algn="l">
              <a:defRPr sz="520" b="1">
                <a:solidFill>
                  <a:srgbClr val="111827"/>
                </a:solidFill>
                <a:latin typeface="Arial"/>
              </a:defRPr>
            </a:pPr>
            <a:r>
              <a:t>Domains        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84080" y="4407408"/>
            <a:ext cx="1143000" cy="777240"/>
          </a:xfrm>
          <a:prstGeom prst="roundRect">
            <a:avLst/>
          </a:prstGeom>
          <a:solidFill>
            <a:srgbClr val="E8F0FE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39528" y="4590288"/>
            <a:ext cx="65836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50" b="1">
                <a:solidFill>
                  <a:srgbClr val="1F6FEB"/>
                </a:solidFill>
                <a:latin typeface="Arial"/>
              </a:defRPr>
            </a:pPr>
            <a:r>
              <a:t>Learner tip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39528" y="4791456"/>
            <a:ext cx="685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" b="0">
                <a:solidFill>
                  <a:srgbClr val="4B5563"/>
                </a:solidFill>
                <a:latin typeface="Arial"/>
              </a:defRPr>
            </a:pPr>
            <a:r>
              <a:t>Retake missed items after revision.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6419088"/>
            <a:ext cx="4297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</a:defRPr>
            </a:pPr>
            <a:r>
              <a:t>AZ-400 DevOps Solutions  ·  TGS-2024042605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641908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>
                <a:solidFill>
                  <a:srgbClr val="4B5563"/>
                </a:solidFill>
              </a:defRPr>
            </a:pPr>
            <a: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84280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1182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30352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F6FEB"/>
                </a:solidFill>
                <a:latin typeface="Arial"/>
              </a:defRPr>
            </a:pPr>
            <a: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50392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Arial"/>
              </a:defRPr>
            </a:pPr>
            <a:r>
              <a:t>Assessment Flow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81328"/>
            <a:ext cx="1060704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85416"/>
            <a:ext cx="2011680" cy="16002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201168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31343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98648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TRAQOM digital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95351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4B5563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1" y="2185416"/>
            <a:ext cx="2011680" cy="16002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39" y="2148840"/>
            <a:ext cx="201168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99232" y="231343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2898648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Assessment digital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95351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4B5563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2185416"/>
            <a:ext cx="2011680" cy="16002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10912" y="2148840"/>
            <a:ext cx="201168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75503" y="231343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898648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Sit WA then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Practical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95351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4B5563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4616" y="2185416"/>
            <a:ext cx="2011680" cy="16002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87183" y="2148840"/>
            <a:ext cx="201168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51775" y="231343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3" y="2898648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Submit evidence on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the 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3" y="295351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4B5563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90888" y="2185416"/>
            <a:ext cx="2011680" cy="16002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63456" y="2148840"/>
            <a:ext cx="201168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28048" y="231343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2898648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Sign Assessment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Summary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89204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0">
                <a:solidFill>
                  <a:srgbClr val="4B5563"/>
                </a:solidFill>
                <a:latin typeface="Arial"/>
              </a:defRPr>
            </a:pPr>
            <a:r>
              <a:t>The TRAQOM QR code and LMS submission are both handled through the LMS/TMS portal.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19088"/>
            <a:ext cx="4297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</a:defRPr>
            </a:pPr>
            <a:r>
              <a:t>AZ-400 DevOps Solutions  ·  TGS-2024042605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641908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>
                <a:solidFill>
                  <a:srgbClr val="4B5563"/>
                </a:solidFill>
              </a:defRPr>
            </a:pPr>
            <a: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84280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11827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Azure DevOps Delivery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Plan + Code + Build + Release + Operate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The eight labs build one traceable DevOps solution in sequence.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TOPIC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is about designing delivery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t>•  The course focuses on repeatable software delivery, security, governance and feedback.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Learners practise design tradeoffs, not only tool commands.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</a:p>
          <a:p>
            <a:pPr>
              <a:spcBef>
                <a:spcPts val="0"/>
              </a:spcBef>
              <a:spcAft>
                <a:spcPts val="10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Core DevOps Capabilities Practised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Boards and traceability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t>IaC, DevSecOps, monitoring and feedback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</a:p>
          <a:p>
            <a:pPr>
              <a:spcBef>
                <a:spcPts val="0"/>
              </a:spcBef>
              <a:spcAft>
                <a:spcPts val="900"/>
              </a:spcAft>
            </a:pP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Repos, branches and pull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</a:p>
          <a:p>
            <a:pPr>
              <a:spcBef>
                <a:spcPts val="0"/>
              </a:spcBef>
              <a:spcAft>
                <a:spcPts val="900"/>
              </a:spcAft>
            </a:pPr>
          </a:p>
          <a:p>
            <a:pPr>
              <a:spcBef>
                <a:spcPts val="0"/>
              </a:spcBef>
              <a:spcAft>
                <a:spcPts val="900"/>
              </a:spcAft>
            </a:pP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YAML CI, artifacts and releases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</a:p>
          <a:p>
            <a:pPr>
              <a:spcBef>
                <a:spcPts val="0"/>
              </a:spcBef>
              <a:spcAft>
                <a:spcPts val="900"/>
              </a:spcAft>
            </a:pPr>
          </a:p>
          <a:p>
            <a:pPr>
              <a:spcBef>
                <a:spcPts val="0"/>
              </a:spcBef>
              <a:spcAft>
                <a:spcPts val="9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WHY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DevOps connects work, code and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297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•  Traceability shows why a change exists, how it was built, where it deployed and what happened after release.</a:t>
            </a:r>
          </a:p>
          <a:p>
            <a:r>
              <a:t>•  This is the thread followed through all labs.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Azure DevOps and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t>•  Use Azure DevOps or GitHub for work tracking, repositories, pipelines and delivery evidence.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Use Azure, Bicep and monitoring tools for deployment and operations practice.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5870448" y="1755648"/>
            <a:ext cx="5650992" cy="3584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n8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48640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Why automate delivery?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t>•  Reduce manual release risk.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Make builds, tests and deployments repeatable.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Create fast feedback from code, security, telemetry and users.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01 - DevOps Processes, Boards, and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Create a work tracking structure. Link work to code and releases. Define DevOps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Boards  →  Branch  →  Commit  →  Pull Request  → 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Key tools: Azure DevOps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01 - DevOps Processes, Boards, and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STEP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9144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Create or open an Azure DevOps project or GitHub repository.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01 - DevOps Processes, Boards, and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•  Work items follow a clear hierarchy.</a:t>
            </a:r>
          </a:p>
          <a:p>
            <a:r>
              <a:t>•  Traceability includes work, code, pipeline, and release evidence.</a:t>
            </a:r>
          </a:p>
          <a:p>
            <a:r>
              <a:t>•  Metrics are defined.</a:t>
            </a:r>
          </a:p>
          <a:p>
            <a:r>
              <a:t>•  Documentation is readable.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02 - Source Control, Branching, and Pull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Choose a branch strategy. Configure pull request workflow. Apply branch protection or policies.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Repository  →  Branch  →  Pull Request  → 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Key tools: Azure DevOps, Git, Repos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02 - Source Control, Branching, and Pull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STEP 1 OF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9144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Create or open a Git repository.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02 - Source Control, Branching, and Pull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•  Branch strategy fits the team scenario.</a:t>
            </a:r>
          </a:p>
          <a:p>
            <a:r>
              <a:t>•  Pull request includes review and checks.</a:t>
            </a:r>
          </a:p>
          <a:p>
            <a:r>
              <a:t>•  Tagging convention is documented.</a:t>
            </a:r>
          </a:p>
          <a:p>
            <a:r>
              <a:t>•  Git recovery step is successful.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03 - YAML CI Pipelines, Testing, and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Create a YAML CI pipeline. Configure triggers. Run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YAML Pipeline  →  Build  →  Test  → 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Key tools: Azure DevOps, Pipelines,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03 - YAML CI Pipelines, Testing, and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STEP 1 OF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9144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Use a sample application repository.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03 - YAML CI Pipelines, Testing, and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•  Pipeline triggers correctly.</a:t>
            </a:r>
          </a:p>
          <a:p>
            <a:r>
              <a:t>•  Tests run.</a:t>
            </a:r>
          </a:p>
          <a:p>
            <a:r>
              <a:t>•  Artifact is published.</a:t>
            </a:r>
          </a:p>
          <a:p>
            <a:r>
              <a:t>•  Failure is documented and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29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04 - Release Pipelines and Deployment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Design release stages. Configure environments and approvals. Compare deployment strategies.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Artifact  →  Environment  →  Approval  → 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Key tools: Azure DevOps, Pipelines, Artifacts, Environments, Approvals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04 - Release Pipelines and Deployment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STEP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9144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Define dev, test, staging, and production environments.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04 - Release Pipelines and Deployment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•  Deployment strategy matches risk and downtime needs.</a:t>
            </a:r>
          </a:p>
          <a:p>
            <a:r>
              <a:t>•  Approval/check evidence is captured.</a:t>
            </a:r>
          </a:p>
          <a:p>
            <a:r>
              <a:t>•  Rollback path is clear.</a:t>
            </a:r>
          </a:p>
          <a:p>
            <a:r>
              <a:t>•  Release notes are generated or drafted.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05 - Infrastructure as Code with Bicep and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Define IaC strategy. Create a Bicep or template file. Validate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Bicep Template  →  Validation  → 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Key tools: Azure DevOps, Azure CLI, Bicep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05 - Infrastructure as Code with Bicep and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STEP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9144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Identify infrastructure required by the sample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05 - Infrastructure as Code with Bicep and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•  Template is parameterized.</a:t>
            </a:r>
          </a:p>
          <a:p>
            <a:r>
              <a:t>•  Tags are included.</a:t>
            </a:r>
          </a:p>
          <a:p>
            <a:r>
              <a:t>•  Validation or deployment evidence is captured.</a:t>
            </a:r>
          </a:p>
          <a:p>
            <a:r>
              <a:t>•  Drift and review controls are documented.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06 - DevSecOps, Secrets, and Compliance Scanning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Manage secrets safely. Design secure pipeline authentication. Configure scanning 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Secrets  →  Scanning  →  Compliance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Key tools: Azure DevOps, Secrets, Security scanning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06 - DevSecOps, Secrets, and Compliance Scanning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STEP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9144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Identify secrets used by the sample app or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06 - DevSecOps, Secrets, and Compliance Scanning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•  No secrets are stored in code.</a:t>
            </a:r>
          </a:p>
          <a:p>
            <a:r>
              <a:t>•  Authentication design follows least privilege.</a:t>
            </a:r>
          </a:p>
          <a:p>
            <a:r>
              <a:t>•  Scanning plan covers code, dependencies, secrets, and containers.</a:t>
            </a:r>
          </a:p>
          <a:p>
            <a:r>
              <a:t>•  Evidence table is audit-friendly.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38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07 - Instrumentation, Monitoring, KQL, and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Design monitoring strategy. Review Azure Monitor and Application Insights. Write KQL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Telemetry  →  KQL  →  Dashboard  → 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Key tools: Azure DevOps, Application Insights, KQL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39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07 - Instrumentation, Monitoring, KQL, and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STEP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9144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Identify telemetry required for the sample application.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40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07 - Instrumentation, Monitoring, KQL, and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•  Metrics connect to operational decisions.</a:t>
            </a:r>
          </a:p>
          <a:p>
            <a:r>
              <a:t>•  Alerts have clear action.</a:t>
            </a:r>
          </a:p>
          <a:p>
            <a:r>
              <a:t>•  KQL queries are documented.</a:t>
            </a:r>
          </a:p>
          <a:p>
            <a:r>
              <a:t>•  Feedback loop is practical.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41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08 - AZ-400 Capstone: End-to-End DevOps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Design a complete DevOps solution. Combine work tracking, source control, pipelines, security, and monitoring. Make tradeoff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Plan  →  Code  →  Build  →  Release  → 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Key tools: Azure DevOps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42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08 - AZ-400 Capstone: End-to-End DevOps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STEP 1 OF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9144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Review the trainer-provided scenario.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43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TOPIC · AZURE DEVOPS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Lab 08 - AZ-400 Capstone: End-to-End DevOps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•  Solution includes traceability.</a:t>
            </a:r>
          </a:p>
          <a:p>
            <a:r>
              <a:t>•  Pipeline strategy covers build, test, release, and rollback.</a:t>
            </a:r>
          </a:p>
          <a:p>
            <a:r>
              <a:t>•  Security and monitoring are built in.</a:t>
            </a:r>
          </a:p>
          <a:p>
            <a:r>
              <a:t>•  Study plan targets weak domains.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44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Presentation &amp;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t>•  Present the problem, your design, evidence and what you would improve.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Complete written and practical assessment tasks as instructed.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Submit evidence through the LMS/TMS portal.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t>•  Remember the assessment digital attendance requirement.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t>AZ-400 DevOps Solutions  ·  TGS-2024042605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