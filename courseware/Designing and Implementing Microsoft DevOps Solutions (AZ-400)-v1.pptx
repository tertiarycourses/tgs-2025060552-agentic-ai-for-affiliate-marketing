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3.xml" ContentType="application/vnd.openxmlformats-officedocument.presentationml.slide+xml"/>
  <Override PartName="/ppt/slides/slide11.xml" ContentType="application/vnd.openxmlformats-officedocument.presentationml.slide+xml"/>
  <Override PartName="/ppt/slides/slide113.xml" ContentType="application/vnd.openxmlformats-officedocument.presentationml.slide+xml"/>
  <Override PartName="/ppt/slides/slide115.xml" ContentType="application/vnd.openxmlformats-officedocument.presentationml.slide+xml"/>
  <Override PartName="/ppt/slides/slide12.xml" ContentType="application/vnd.openxmlformats-officedocument.presentationml.slide+xml"/>
  <Override PartName="/ppt/slides/slide122.xml" ContentType="application/vnd.openxmlformats-officedocument.presentationml.slide+xml"/>
  <Override PartName="/ppt/slides/slide13.xml" ContentType="application/vnd.openxmlformats-officedocument.presentationml.slide+xml"/>
  <Override PartName="/ppt/slides/slide135.xml" ContentType="application/vnd.openxmlformats-officedocument.presentationml.slide+xml"/>
  <Override PartName="/ppt/slides/slide137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41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2.xml" ContentType="application/vnd.openxmlformats-officedocument.presentationml.slide+xml"/>
  <Override PartName="/ppt/slides/slide54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2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5.xml" ContentType="application/vnd.openxmlformats-officedocument.presentationml.slide+xml"/>
  <Override PartName="/ppt/slides/slide8.xml" ContentType="application/vnd.openxmlformats-officedocument.presentationml.slide+xml"/>
  <Override PartName="/ppt/slides/slide86.xml" ContentType="application/vnd.openxmlformats-officedocument.presentationml.slide+xml"/>
  <Override PartName="/ppt/slides/slide88.xml" ContentType="application/vnd.openxmlformats-officedocument.presentationml.slide+xml"/>
  <Override PartName="/ppt/slides/slide9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96" r:id="rId47"/>
    <p:sldId id="298" r:id="rId49"/>
    <p:sldId id="305" r:id="rId56"/>
    <p:sldId id="307" r:id="rId58"/>
    <p:sldId id="309" r:id="rId60"/>
    <p:sldId id="314" r:id="rId65"/>
    <p:sldId id="315" r:id="rId66"/>
    <p:sldId id="317" r:id="rId68"/>
    <p:sldId id="322" r:id="rId73"/>
    <p:sldId id="323" r:id="rId74"/>
    <p:sldId id="325" r:id="rId76"/>
    <p:sldId id="330" r:id="rId81"/>
    <p:sldId id="341" r:id="rId92"/>
    <p:sldId id="343" r:id="rId94"/>
    <p:sldId id="350" r:id="rId101"/>
    <p:sldId id="351" r:id="rId102"/>
    <p:sldId id="353" r:id="rId104"/>
    <p:sldId id="358" r:id="rId109"/>
    <p:sldId id="368" r:id="rId119"/>
    <p:sldId id="370" r:id="rId121"/>
    <p:sldId id="377" r:id="rId128"/>
    <p:sldId id="390" r:id="rId141"/>
    <p:sldId id="392" r:id="rId143"/>
    <p:sldId id="405" r:id="rId156"/>
    <p:sldId id="470" r:id="rId2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56" Type="http://schemas.openxmlformats.org/officeDocument/2006/relationships/slide" Target="slides/slide50.xml"/><Relationship Id="rId58" Type="http://schemas.openxmlformats.org/officeDocument/2006/relationships/slide" Target="slides/slide52.xml"/><Relationship Id="rId60" Type="http://schemas.openxmlformats.org/officeDocument/2006/relationships/slide" Target="slides/slide54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8" Type="http://schemas.openxmlformats.org/officeDocument/2006/relationships/slide" Target="slides/slide62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6" Type="http://schemas.openxmlformats.org/officeDocument/2006/relationships/slide" Target="slides/slide70.xml"/><Relationship Id="rId81" Type="http://schemas.openxmlformats.org/officeDocument/2006/relationships/slide" Target="slides/slide75.xml"/><Relationship Id="rId92" Type="http://schemas.openxmlformats.org/officeDocument/2006/relationships/slide" Target="slides/slide86.xml"/><Relationship Id="rId94" Type="http://schemas.openxmlformats.org/officeDocument/2006/relationships/slide" Target="slides/slide88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4" Type="http://schemas.openxmlformats.org/officeDocument/2006/relationships/slide" Target="slides/slide98.xml"/><Relationship Id="rId109" Type="http://schemas.openxmlformats.org/officeDocument/2006/relationships/slide" Target="slides/slide103.xml"/><Relationship Id="rId119" Type="http://schemas.openxmlformats.org/officeDocument/2006/relationships/slide" Target="slides/slide113.xml"/><Relationship Id="rId121" Type="http://schemas.openxmlformats.org/officeDocument/2006/relationships/slide" Target="slides/slide115.xml"/><Relationship Id="rId128" Type="http://schemas.openxmlformats.org/officeDocument/2006/relationships/slide" Target="slides/slide122.xml"/><Relationship Id="rId141" Type="http://schemas.openxmlformats.org/officeDocument/2006/relationships/slide" Target="slides/slide135.xml"/><Relationship Id="rId143" Type="http://schemas.openxmlformats.org/officeDocument/2006/relationships/slide" Target="slides/slide137.xml"/><Relationship Id="rId156" Type="http://schemas.openxmlformats.org/officeDocument/2006/relationships/slide" Target="slides/slide150.xml"/><Relationship Id="rId221" Type="http://schemas.openxmlformats.org/officeDocument/2006/relationships/slide" Target="slides/slide2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960120" cy="960120"/>
          </a:xfrm>
          <a:prstGeom prst="rect">
            <a:avLst/>
          </a:prstGeom>
        </p:spPr>
      </p:pic>
      <p:pic>
        <p:nvPicPr>
          <p:cNvPr id="6" name="Picture 5" descr="n8n-cours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58368"/>
            <a:ext cx="91440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LEARNER GUIDE  ·  COURSE SLIDES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10972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Designing and Implementing Microsoft DevOps Solutions (AZ-400)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93192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25196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t>WSQ Course Code: TGS-2024042605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t>Conducted by Tertiary Infotech Academy Pte Ltd  ·  UEN 201200696W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t>Version v1  ·  8 July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89320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Welcome &amp; Housekeeping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TRAQOM +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t>•  Take AM, PM and assessment digital attendance where required.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t>•  Use the registered learner identity throughout the course.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t>•  Minimum attendance requirements apply for funding and assessment records.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30352"/>
            <a:ext cx="73152" cy="502920"/>
          </a:xfrm>
          <a:prstGeom prst="rect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548640"/>
            <a:ext cx="62179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1">
                <a:solidFill>
                  <a:srgbClr val="4B5563"/>
                </a:solidFill>
                <a:latin typeface="Arial"/>
              </a:defRPr>
            </a:pPr>
            <a:r>
              <a:t>YOUR TRAINER · GENERAL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850392"/>
            <a:ext cx="80467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600" b="1">
                <a:solidFill>
                  <a:srgbClr val="111827"/>
                </a:solidFill>
                <a:latin typeface="Arial"/>
              </a:defRPr>
            </a:pPr>
            <a:r>
              <a:t>About the Trainer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1481328"/>
            <a:ext cx="10607040" cy="18288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1828800"/>
            <a:ext cx="3246120" cy="4069080"/>
          </a:xfrm>
          <a:prstGeom prst="rect">
            <a:avLst/>
          </a:prstGeom>
          <a:solidFill>
            <a:srgbClr val="F3F6FA"/>
          </a:solidFill>
          <a:ln w="762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783080"/>
            <a:ext cx="73152" cy="82296"/>
          </a:xfrm>
          <a:prstGeom prst="rect">
            <a:avLst/>
          </a:prstGeom>
          <a:solidFill>
            <a:srgbClr val="4B55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27632" y="2240280"/>
            <a:ext cx="1554480" cy="1554480"/>
          </a:xfrm>
          <a:prstGeom prst="ellipse">
            <a:avLst/>
          </a:prstGeom>
          <a:solidFill>
            <a:srgbClr val="667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4160520"/>
            <a:ext cx="26517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 b="1">
                <a:solidFill>
                  <a:srgbClr val="111827"/>
                </a:solidFill>
                <a:latin typeface="Arial"/>
              </a:defRPr>
            </a:pPr>
            <a:r>
              <a:t>Your Trainer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4645152"/>
            <a:ext cx="26517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1">
                <a:solidFill>
                  <a:srgbClr val="4B5563"/>
                </a:solidFill>
                <a:latin typeface="Arial"/>
              </a:defRPr>
            </a:pPr>
            <a:r>
              <a:t>General Trainer template —</a:t>
            </a:r>
          </a:p>
          <a:p>
            <a:pPr algn="ctr">
              <a:defRPr sz="1150" b="1">
                <a:solidFill>
                  <a:srgbClr val="4B5563"/>
                </a:solidFill>
                <a:latin typeface="Arial"/>
              </a:defRPr>
            </a:pPr>
            <a:r>
              <a:t>to be completed by the trainer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783080"/>
            <a:ext cx="6537960" cy="566928"/>
          </a:xfrm>
          <a:prstGeom prst="rect">
            <a:avLst/>
          </a:prstGeom>
          <a:solidFill>
            <a:srgbClr val="F3F6FA"/>
          </a:solidFill>
          <a:ln w="762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34840" y="1783080"/>
            <a:ext cx="73152" cy="566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8" y="1938528"/>
            <a:ext cx="3840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50" b="1">
                <a:solidFill>
                  <a:srgbClr val="1F6FEB"/>
                </a:solidFill>
                <a:latin typeface="Arial"/>
              </a:defRPr>
            </a:pPr>
            <a:r>
              <a:t>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81728" y="2185416"/>
            <a:ext cx="3977639" cy="13716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34840" y="2496312"/>
            <a:ext cx="6537960" cy="566928"/>
          </a:xfrm>
          <a:prstGeom prst="rect">
            <a:avLst/>
          </a:prstGeom>
          <a:solidFill>
            <a:srgbClr val="F3F6FA"/>
          </a:solidFill>
          <a:ln w="762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2496312"/>
            <a:ext cx="73152" cy="566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81728" y="2651760"/>
            <a:ext cx="3840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50" b="1">
                <a:solidFill>
                  <a:srgbClr val="10B981"/>
                </a:solidFill>
                <a:latin typeface="Arial"/>
              </a:defRPr>
            </a:pPr>
            <a:r>
              <a:t>TITLE / DESIGNATION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1728" y="2898648"/>
            <a:ext cx="3977639" cy="13716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4840" y="3209544"/>
            <a:ext cx="6537960" cy="566928"/>
          </a:xfrm>
          <a:prstGeom prst="rect">
            <a:avLst/>
          </a:prstGeom>
          <a:solidFill>
            <a:srgbClr val="F3F6FA"/>
          </a:solidFill>
          <a:ln w="762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34840" y="3209544"/>
            <a:ext cx="73152" cy="56692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81728" y="3364991"/>
            <a:ext cx="3840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50" b="1">
                <a:solidFill>
                  <a:srgbClr val="7C3AED"/>
                </a:solidFill>
                <a:latin typeface="Arial"/>
              </a:defRPr>
            </a:pPr>
            <a:r>
              <a:t>QUALIFICATIONS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1728" y="3611879"/>
            <a:ext cx="3977639" cy="13716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34840" y="3922776"/>
            <a:ext cx="6537960" cy="566928"/>
          </a:xfrm>
          <a:prstGeom prst="rect">
            <a:avLst/>
          </a:prstGeom>
          <a:solidFill>
            <a:srgbClr val="F3F6FA"/>
          </a:solidFill>
          <a:ln w="762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34840" y="3922776"/>
            <a:ext cx="73152" cy="5669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1728" y="4078224"/>
            <a:ext cx="3840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50" b="1">
                <a:solidFill>
                  <a:srgbClr val="F59E0B"/>
                </a:solidFill>
                <a:latin typeface="Arial"/>
              </a:defRPr>
            </a:pPr>
            <a:r>
              <a:t>AREAS OF EXPERTISE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81728" y="4325112"/>
            <a:ext cx="3977639" cy="13716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434840" y="4636008"/>
            <a:ext cx="6537960" cy="566928"/>
          </a:xfrm>
          <a:prstGeom prst="rect">
            <a:avLst/>
          </a:prstGeom>
          <a:solidFill>
            <a:srgbClr val="F3F6FA"/>
          </a:solidFill>
          <a:ln w="762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34840" y="4636008"/>
            <a:ext cx="73152" cy="56692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1728" y="4791456"/>
            <a:ext cx="3840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50" b="1">
                <a:solidFill>
                  <a:srgbClr val="1F6FEB"/>
                </a:solidFill>
                <a:latin typeface="Arial"/>
              </a:defRPr>
            </a:pPr>
            <a:r>
              <a:t>TRAINING &amp; INDUSTRY EXPERIENCE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81728" y="5038344"/>
            <a:ext cx="3977639" cy="13716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434840" y="5349240"/>
            <a:ext cx="6537960" cy="566928"/>
          </a:xfrm>
          <a:prstGeom prst="rect">
            <a:avLst/>
          </a:prstGeom>
          <a:solidFill>
            <a:srgbClr val="F3F6FA"/>
          </a:solidFill>
          <a:ln w="762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434840" y="5349240"/>
            <a:ext cx="73152" cy="566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1728" y="5504688"/>
            <a:ext cx="38404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50" b="1">
                <a:solidFill>
                  <a:srgbClr val="10B981"/>
                </a:solidFill>
                <a:latin typeface="Arial"/>
              </a:defRPr>
            </a:pPr>
            <a:r>
              <a:t>CONTACT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81728" y="5751576"/>
            <a:ext cx="3977639" cy="13716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" y="6419088"/>
            <a:ext cx="4297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4B5563"/>
                </a:solidFill>
              </a:defRPr>
            </a:pPr>
            <a:r>
              <a:t>AZ-400 DevOps Solutions  ·  TGS-2024042605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74920" y="6419088"/>
            <a:ext cx="25603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50">
                <a:solidFill>
                  <a:srgbClr val="4B5563"/>
                </a:solidFill>
              </a:defRPr>
            </a:pPr>
            <a:r>
              <a:t>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84280" y="6419088"/>
            <a:ext cx="411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111827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30352"/>
            <a:ext cx="73152" cy="5029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548640"/>
            <a:ext cx="62179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1">
                <a:solidFill>
                  <a:srgbClr val="1F6FEB"/>
                </a:solidFill>
                <a:latin typeface="Arial"/>
              </a:defRPr>
            </a:pPr>
            <a:r>
              <a:t>YOUR TRAINER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850392"/>
            <a:ext cx="80467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600" b="1">
                <a:solidFill>
                  <a:srgbClr val="111827"/>
                </a:solidFill>
                <a:latin typeface="Arial"/>
              </a:defRPr>
            </a:pPr>
            <a:r>
              <a:t>About the Trainer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1481328"/>
            <a:ext cx="10607040" cy="18288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6112" y="1865376"/>
            <a:ext cx="3246120" cy="4069080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828800"/>
            <a:ext cx="3246120" cy="4069080"/>
          </a:xfrm>
          <a:prstGeom prst="rect">
            <a:avLst/>
          </a:prstGeom>
          <a:solidFill>
            <a:srgbClr val="F3F6FA"/>
          </a:solidFill>
          <a:ln w="762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1783080"/>
            <a:ext cx="73152" cy="82296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4208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  <a:latin typeface="Arial"/>
              </a:defRPr>
            </a:pPr>
            <a:r>
              <a:t>AA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160520"/>
            <a:ext cx="26974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 b="1">
                <a:solidFill>
                  <a:srgbClr val="111827"/>
                </a:solidFill>
                <a:latin typeface="Arial"/>
              </a:defRPr>
            </a:pPr>
            <a:r>
              <a:t>Dr. Alfred Ang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663440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1">
                <a:solidFill>
                  <a:srgbClr val="4B5563"/>
                </a:solidFill>
                <a:latin typeface="Arial"/>
              </a:defRPr>
            </a:pPr>
            <a:r>
              <a:t>Principal Trainer</a:t>
            </a:r>
          </a:p>
          <a:p>
            <a:pPr algn="ctr">
              <a:defRPr sz="1150" b="1">
                <a:solidFill>
                  <a:srgbClr val="4B5563"/>
                </a:solidFill>
                <a:latin typeface="Arial"/>
              </a:defRPr>
            </a:pPr>
            <a:r>
              <a:t>Tertiary Infotech Academy Pte. Ltd.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2272" y="1865376"/>
            <a:ext cx="6629400" cy="749808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828800"/>
            <a:ext cx="6629400" cy="749808"/>
          </a:xfrm>
          <a:prstGeom prst="rect">
            <a:avLst/>
          </a:prstGeom>
          <a:solidFill>
            <a:srgbClr val="F3F6FA"/>
          </a:solidFill>
          <a:ln w="762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1828800"/>
            <a:ext cx="73152" cy="74980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984248"/>
            <a:ext cx="2286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50" b="1">
                <a:solidFill>
                  <a:srgbClr val="1F6FEB"/>
                </a:solidFill>
                <a:latin typeface="Arial"/>
              </a:defRPr>
            </a:pPr>
            <a:r>
              <a:t>ROLE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2176272"/>
            <a:ext cx="5943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 b="0">
                <a:solidFill>
                  <a:srgbClr val="111827"/>
                </a:solidFill>
                <a:latin typeface="Arial"/>
              </a:defRPr>
            </a:pPr>
            <a:r>
              <a:t>Principal Trainer, Tertiary Infotech Academy Pte. Ltd.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62272" y="2916936"/>
            <a:ext cx="6629400" cy="749808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34840" y="2880360"/>
            <a:ext cx="6629400" cy="749808"/>
          </a:xfrm>
          <a:prstGeom prst="rect">
            <a:avLst/>
          </a:prstGeom>
          <a:solidFill>
            <a:srgbClr val="F3F6FA"/>
          </a:solidFill>
          <a:ln w="762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4840" y="2880360"/>
            <a:ext cx="73152" cy="7498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09160" y="3035808"/>
            <a:ext cx="2286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50" b="1">
                <a:solidFill>
                  <a:srgbClr val="10B981"/>
                </a:solidFill>
                <a:latin typeface="Arial"/>
              </a:defRPr>
            </a:pPr>
            <a:r>
              <a:t>QUALIFICATIONS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3227832"/>
            <a:ext cx="5943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 b="0">
                <a:solidFill>
                  <a:srgbClr val="111827"/>
                </a:solidFill>
                <a:latin typeface="Arial"/>
              </a:defRPr>
            </a:pPr>
            <a:r>
              <a:t>PhD — specialises in AI, automation and software engineering.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62272" y="3968496"/>
            <a:ext cx="6629400" cy="749808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34840" y="3931920"/>
            <a:ext cx="6629400" cy="749808"/>
          </a:xfrm>
          <a:prstGeom prst="rect">
            <a:avLst/>
          </a:prstGeom>
          <a:solidFill>
            <a:srgbClr val="F3F6FA"/>
          </a:solidFill>
          <a:ln w="762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34840" y="3931920"/>
            <a:ext cx="73152" cy="74980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4087368"/>
            <a:ext cx="2286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50" b="1">
                <a:solidFill>
                  <a:srgbClr val="7C3AED"/>
                </a:solidFill>
                <a:latin typeface="Arial"/>
              </a:defRPr>
            </a:pPr>
            <a:r>
              <a:t>DELIVERS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60" y="4279392"/>
            <a:ext cx="5943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 b="0">
                <a:solidFill>
                  <a:srgbClr val="111827"/>
                </a:solidFill>
                <a:latin typeface="Arial"/>
              </a:defRPr>
            </a:pPr>
            <a:r>
              <a:t>WSQ courses on AI agents, automation (n8n), app development and DevOps delivery.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62272" y="5020055"/>
            <a:ext cx="6629400" cy="749808"/>
          </a:xfrm>
          <a:prstGeom prst="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34840" y="4983479"/>
            <a:ext cx="6629400" cy="749808"/>
          </a:xfrm>
          <a:prstGeom prst="rect">
            <a:avLst/>
          </a:prstGeom>
          <a:solidFill>
            <a:srgbClr val="F3F6FA"/>
          </a:solidFill>
          <a:ln w="762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34840" y="4983479"/>
            <a:ext cx="73152" cy="7498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09160" y="5138927"/>
            <a:ext cx="228600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950" b="1">
                <a:solidFill>
                  <a:srgbClr val="F59E0B"/>
                </a:solidFill>
                <a:latin typeface="Arial"/>
              </a:defRPr>
            </a:pPr>
            <a:r>
              <a:t>FOUNDER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09160" y="5330951"/>
            <a:ext cx="5943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 b="0">
                <a:solidFill>
                  <a:srgbClr val="111827"/>
                </a:solidFill>
                <a:latin typeface="Arial"/>
              </a:defRPr>
            </a:pPr>
            <a:r>
              <a:t>Founder and lead instructor at Tertiary Infotech / Tertiary Courses.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" y="6419088"/>
            <a:ext cx="4297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4B5563"/>
                </a:solidFill>
              </a:defRPr>
            </a:pPr>
            <a:r>
              <a:t>AZ-400 DevOps Solutions  ·  TGS-2024042605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74920" y="6419088"/>
            <a:ext cx="25603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50">
                <a:solidFill>
                  <a:srgbClr val="4B5563"/>
                </a:solidFill>
              </a:defRPr>
            </a:pPr>
            <a: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84280" y="6419088"/>
            <a:ext cx="411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111827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ICE-BREAKER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t>•  Your name and organisation or role.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t>•  Your experience with DevOps, Azure DevOps, GitHub or CI/CD.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t>•  One delivery problem you want automation to solve.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30352"/>
            <a:ext cx="73152" cy="5029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548640"/>
            <a:ext cx="62179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1">
                <a:solidFill>
                  <a:srgbClr val="1F6FEB"/>
                </a:solidFill>
                <a:latin typeface="Arial"/>
              </a:defRPr>
            </a:pPr>
            <a:r>
              <a:t>HOUSEKEEPING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850392"/>
            <a:ext cx="80467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600" b="1">
                <a:solidFill>
                  <a:srgbClr val="111827"/>
                </a:solidFill>
                <a:latin typeface="Arial"/>
              </a:defRPr>
            </a:pPr>
            <a:r>
              <a:t>Ground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1481328"/>
            <a:ext cx="10607040" cy="18288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783080"/>
            <a:ext cx="5257800" cy="1143000"/>
          </a:xfrm>
          <a:prstGeom prst="roundRect">
            <a:avLst/>
          </a:prstGeom>
          <a:solidFill>
            <a:srgbClr val="F3F6FA"/>
          </a:solidFill>
          <a:ln w="762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792" y="1783080"/>
            <a:ext cx="73152" cy="114300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213055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185416"/>
            <a:ext cx="3886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00" b="0">
                <a:solidFill>
                  <a:srgbClr val="111827"/>
                </a:solidFill>
                <a:latin typeface="Arial"/>
              </a:defRPr>
            </a:pPr>
            <a:r>
              <a:t>Set your mobile phone to silent mode.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257800" cy="1143000"/>
          </a:xfrm>
          <a:prstGeom prst="roundRect">
            <a:avLst/>
          </a:prstGeom>
          <a:solidFill>
            <a:srgbClr val="F3F6FA"/>
          </a:solidFill>
          <a:ln w="762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91072" y="1783080"/>
            <a:ext cx="73152" cy="1143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83680" y="213055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185416"/>
            <a:ext cx="3886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00" b="0">
                <a:solidFill>
                  <a:srgbClr val="111827"/>
                </a:solidFill>
                <a:latin typeface="Arial"/>
              </a:defRPr>
            </a:pPr>
            <a:r>
              <a:t>Participate actively — no question is too small.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355848"/>
            <a:ext cx="5257800" cy="1143000"/>
          </a:xfrm>
          <a:prstGeom prst="roundRect">
            <a:avLst/>
          </a:prstGeom>
          <a:solidFill>
            <a:srgbClr val="F3F6FA"/>
          </a:solidFill>
          <a:ln w="762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" y="3355848"/>
            <a:ext cx="73152" cy="11430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" y="3703320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758184"/>
            <a:ext cx="3886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00" b="0">
                <a:solidFill>
                  <a:srgbClr val="111827"/>
                </a:solidFill>
                <a:latin typeface="Arial"/>
              </a:defRPr>
            </a:pPr>
            <a:r>
              <a:t>Mutual respect: agree to disagree.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3355848"/>
            <a:ext cx="5257800" cy="1143000"/>
          </a:xfrm>
          <a:prstGeom prst="roundRect">
            <a:avLst/>
          </a:prstGeom>
          <a:solidFill>
            <a:srgbClr val="F3F6FA"/>
          </a:solidFill>
          <a:ln w="762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91072" y="3355848"/>
            <a:ext cx="73152" cy="1143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83680" y="3703320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3758184"/>
            <a:ext cx="3886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00" b="0">
                <a:solidFill>
                  <a:srgbClr val="111827"/>
                </a:solidFill>
                <a:latin typeface="Arial"/>
              </a:defRPr>
            </a:pPr>
            <a:r>
              <a:t>One conversation at a time.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" y="4928616"/>
            <a:ext cx="5257800" cy="1143000"/>
          </a:xfrm>
          <a:prstGeom prst="roundRect">
            <a:avLst/>
          </a:prstGeom>
          <a:solidFill>
            <a:srgbClr val="F3F6FA"/>
          </a:solidFill>
          <a:ln w="762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" y="4928616"/>
            <a:ext cx="73152" cy="114300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5276088"/>
            <a:ext cx="530352" cy="530352"/>
          </a:xfrm>
          <a:prstGeom prst="ellipse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5330952"/>
            <a:ext cx="3886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00" b="0">
                <a:solidFill>
                  <a:srgbClr val="111827"/>
                </a:solidFill>
                <a:latin typeface="Arial"/>
              </a:defRPr>
            </a:pPr>
            <a:r>
              <a:t>Be punctual; return from breaks on time.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91072" y="4928616"/>
            <a:ext cx="5257800" cy="1143000"/>
          </a:xfrm>
          <a:prstGeom prst="roundRect">
            <a:avLst/>
          </a:prstGeom>
          <a:solidFill>
            <a:srgbClr val="F3F6FA"/>
          </a:solidFill>
          <a:ln w="762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91072" y="4928616"/>
            <a:ext cx="73152" cy="11430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583680" y="5276088"/>
            <a:ext cx="530352" cy="530352"/>
          </a:xfrm>
          <a:prstGeom prst="ellipse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5330952"/>
            <a:ext cx="3886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00" b="0">
                <a:solidFill>
                  <a:srgbClr val="111827"/>
                </a:solidFill>
                <a:latin typeface="Arial"/>
              </a:defRPr>
            </a:pPr>
            <a:r>
              <a:t>75% attendance is required.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" y="6419088"/>
            <a:ext cx="4297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4B5563"/>
                </a:solidFill>
              </a:defRPr>
            </a:pPr>
            <a:r>
              <a:t>AZ-400 DevOps Solutions  ·  TGS-2024042605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74920" y="6419088"/>
            <a:ext cx="25603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50">
                <a:solidFill>
                  <a:srgbClr val="4B5563"/>
                </a:solidFill>
              </a:defRPr>
            </a:pPr>
            <a: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84280" y="6419088"/>
            <a:ext cx="411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111827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COURSE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LMS / TMS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t>•  Access course materials, attendance and assessment through the LMS/TMS portal.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t>•  Use the Learner Guide and copied lab source for step-by-step practice.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GET THE 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Download the Course Labs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9144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1965960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9659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942746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Open the AZ-400 lab repository from the course link.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935224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35224"/>
            <a:ext cx="91440" cy="9144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3272" y="311810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311810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3026664"/>
            <a:ext cx="942746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Use the copy in courseware/labs-source for offline reference.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087368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087368"/>
            <a:ext cx="91440" cy="914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4270248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427024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4178808"/>
            <a:ext cx="942746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Complete the labs in order.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239512"/>
            <a:ext cx="10634472" cy="9144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239512"/>
            <a:ext cx="91440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5422392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5422392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5330952"/>
            <a:ext cx="9427464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Keep screenshots, URLs or pipeline run links as evidence.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Lesson Plan - 2 Days, 8 hours/day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Day 1: DevOps process, source control, YAML CI and release pipelines.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Day 2: IaC, DevSecOps, monitoring and capstone integration.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t>LP schedule includes slide numbers for each activity.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</a:p>
          <a:p>
            <a:pPr>
              <a:spcBef>
                <a:spcPts val="0"/>
              </a:spcBef>
              <a:spcAft>
                <a:spcPts val="1000"/>
              </a:spcAft>
            </a:pPr>
          </a:p>
          <a:p>
            <a:pPr>
              <a:spcBef>
                <a:spcPts val="0"/>
              </a:spcBef>
              <a:spcAft>
                <a:spcPts val="1000"/>
              </a:spcAft>
            </a:pPr>
          </a:p>
          <a:p>
            <a:pPr>
              <a:spcBef>
                <a:spcPts val="0"/>
              </a:spcBef>
              <a:spcAft>
                <a:spcPts val="1000"/>
              </a:spcAft>
            </a:pPr>
          </a:p>
          <a:p>
            <a:pPr>
              <a:spcBef>
                <a:spcPts val="0"/>
              </a:spcBef>
              <a:spcAft>
                <a:spcPts val="1000"/>
              </a:spcAft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</a:p>
          <a:p>
            <a:pPr>
              <a:spcBef>
                <a:spcPts val="0"/>
              </a:spcBef>
              <a:spcAft>
                <a:spcPts val="1000"/>
              </a:spcAft>
            </a:pPr>
          </a:p>
          <a:p>
            <a:pPr>
              <a:spcBef>
                <a:spcPts val="0"/>
              </a:spcBef>
              <a:spcAft>
                <a:spcPts val="1000"/>
              </a:spcAft>
            </a:pPr>
          </a:p>
          <a:p>
            <a:pPr>
              <a:spcBef>
                <a:spcPts val="0"/>
              </a:spcBef>
              <a:spcAft>
                <a:spcPts val="1000"/>
              </a:spcAft>
            </a:pPr>
          </a:p>
          <a:p>
            <a:pPr>
              <a:spcBef>
                <a:spcPts val="0"/>
              </a:spcBef>
              <a:spcAft>
                <a:spcPts val="1000"/>
              </a:spcAft>
            </a:pPr>
          </a:p>
          <a:p>
            <a:pPr>
              <a:spcBef>
                <a:spcPts val="0"/>
              </a:spcBef>
              <a:spcAft>
                <a:spcPts val="1000"/>
              </a:spcAft>
            </a:pPr>
          </a:p>
          <a:p>
            <a:pPr>
              <a:spcBef>
                <a:spcPts val="0"/>
              </a:spcBef>
              <a:spcAft>
                <a:spcPts val="1000"/>
              </a:spcAft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WHAT YOU'LL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33272" y="185074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85074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9427464" cy="53766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Design DevOps processes with traceability from work item to deployment.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70479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704795"/>
            <a:ext cx="91440" cy="683971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33272" y="2772460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27724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64792" y="2796235"/>
            <a:ext cx="9427464" cy="53766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Implement source control, pull requests and review practices.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2651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626510"/>
            <a:ext cx="91440" cy="683971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33272" y="3694175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717950"/>
            <a:ext cx="9427464" cy="53766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Create YAML CI pipelines with tests and artifacts.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548225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548225"/>
            <a:ext cx="91440" cy="683971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33272" y="4615890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3272" y="461589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64792" y="4639665"/>
            <a:ext cx="9427464" cy="53766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Apply IaC, DevSecOps, monitoring and feedback loops.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5469940"/>
            <a:ext cx="10634472" cy="683971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5469940"/>
            <a:ext cx="91440" cy="683971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537605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537605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5561380"/>
            <a:ext cx="9427464" cy="53766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Complete an end-to-end AZ-400 capstone workflow.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BRIEFING FOR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t>Assessment Briefing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t>•  Follow trainer instructions for written and practical assessment evidence.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t>•  No unauthorised materials, photos or recording during assessment.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t>•  Submit required evidence through the assigned platform.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</a:p>
          <a:p>
            <a:pPr>
              <a:spcBef>
                <a:spcPts val="0"/>
              </a:spcBef>
              <a:spcAft>
                <a:spcPts val="1000"/>
              </a:spcAft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30352"/>
            <a:ext cx="73152" cy="5029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548640"/>
            <a:ext cx="62179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1">
                <a:solidFill>
                  <a:srgbClr val="1F6FEB"/>
                </a:solidFill>
                <a:latin typeface="Arial"/>
              </a:defRPr>
            </a:pPr>
            <a:r>
              <a:t>PRACTICE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850392"/>
            <a:ext cx="80467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600" b="1">
                <a:solidFill>
                  <a:srgbClr val="111827"/>
                </a:solidFill>
                <a:latin typeface="Arial"/>
              </a:defRPr>
            </a:pPr>
            <a:r>
              <a:t>Take the Online AZ-400 Practice Assessments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1481328"/>
            <a:ext cx="10607040" cy="18288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182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1F6FEB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856231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 b="0">
                <a:solidFill>
                  <a:srgbClr val="111827"/>
                </a:solidFill>
                <a:latin typeface="Arial"/>
              </a:defRPr>
            </a:pPr>
            <a:r>
              <a:t>Reinforce the AZ-400 delivery lifecycle with realistic, scenario-style questions before assessment 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87752"/>
            <a:ext cx="182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1F6FEB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569464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 b="0">
                <a:solidFill>
                  <a:srgbClr val="111827"/>
                </a:solidFill>
                <a:latin typeface="Arial"/>
              </a:defRPr>
            </a:pPr>
            <a:r>
              <a:t>Use practice sets to test DevOps processes, source control, CI/CD, IaC, security and monitoring.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300984"/>
            <a:ext cx="182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1F6FEB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282696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 b="0">
                <a:solidFill>
                  <a:srgbClr val="111827"/>
                </a:solidFill>
                <a:latin typeface="Arial"/>
              </a:defRPr>
            </a:pPr>
            <a:r>
              <a:t>Review mode helps you check the correct answer and revisit the concept after each question.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014216"/>
            <a:ext cx="182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800" b="1">
                <a:solidFill>
                  <a:srgbClr val="1F6FEB"/>
                </a:solidFill>
                <a:latin typeface="Arial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95928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500" b="0">
                <a:solidFill>
                  <a:srgbClr val="111827"/>
                </a:solidFill>
                <a:latin typeface="Arial"/>
              </a:defRPr>
            </a:pPr>
            <a:r>
              <a:t>Complete practice questions from Google Classroom, then bring difficult items to the review session.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1663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350" b="1">
                <a:solidFill>
                  <a:srgbClr val="111827"/>
                </a:solidFill>
                <a:latin typeface="Arial"/>
              </a:defRPr>
            </a:pPr>
            <a:r>
              <a:t>Access and practise at: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468112"/>
            <a:ext cx="4114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600" b="1">
                <a:solidFill>
                  <a:srgbClr val="1F6FEB"/>
                </a:solidFill>
                <a:latin typeface="Arial"/>
              </a:defRPr>
            </a:pPr>
            <a:r>
              <a:t>Google Classroom &gt; Practice Assessments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40680" y="1874519"/>
            <a:ext cx="5669280" cy="3977639"/>
          </a:xfrm>
          <a:prstGeom prst="rect">
            <a:avLst/>
          </a:prstGeom>
          <a:solidFill>
            <a:srgbClr val="FFFFFF"/>
          </a:solidFill>
          <a:ln w="7620">
            <a:solidFill>
              <a:srgbClr val="D1D5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596128" y="2029968"/>
            <a:ext cx="201168" cy="201168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  <a:latin typeface="Arial"/>
              </a:defRPr>
            </a:pPr>
            <a:r>
              <a:t>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70448" y="2029968"/>
            <a:ext cx="118872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680" b="1">
                <a:solidFill>
                  <a:srgbClr val="111827"/>
                </a:solidFill>
                <a:latin typeface="Arial"/>
              </a:defRPr>
            </a:pPr>
            <a:r>
              <a:t>Tertiary Exams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2029968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620" b="0">
                <a:solidFill>
                  <a:srgbClr val="111827"/>
                </a:solidFill>
                <a:latin typeface="Arial"/>
              </a:defRPr>
            </a:pPr>
            <a:r>
              <a:t>Practice Assessment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40" y="2029968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620" b="0">
                <a:solidFill>
                  <a:srgbClr val="111827"/>
                </a:solidFill>
                <a:latin typeface="Arial"/>
              </a:defRPr>
            </a:pPr>
            <a:r>
              <a:t>Sign 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469880" y="1993392"/>
            <a:ext cx="530352" cy="237744"/>
          </a:xfrm>
          <a:prstGeom prst="roundRect">
            <a:avLst/>
          </a:prstGeom>
          <a:solidFill>
            <a:srgbClr val="1F6FEB"/>
          </a:solidFill>
          <a:ln w="7620">
            <a:solidFill>
              <a:srgbClr val="1F6F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33888" y="2057400"/>
            <a:ext cx="384048" cy="822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450" b="1">
                <a:solidFill>
                  <a:srgbClr val="FFFFFF"/>
                </a:solidFill>
                <a:latin typeface="Arial"/>
              </a:defRPr>
            </a:pPr>
            <a:r>
              <a:t>Get started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0" y="278892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550" b="0">
                <a:solidFill>
                  <a:srgbClr val="1F6FEB"/>
                </a:solidFill>
                <a:latin typeface="Arial"/>
              </a:defRPr>
            </a:pPr>
            <a:r>
              <a:t>All exams / Microsoft / AZ-400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15000" y="3090672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050" b="1">
                <a:solidFill>
                  <a:srgbClr val="111827"/>
                </a:solidFill>
                <a:latin typeface="Arial"/>
              </a:defRPr>
            </a:pPr>
            <a:r>
              <a:t>Designing and Implementing Microsoft DevOps Solutions (AZ-400) Practice Assessments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5000" y="3429000"/>
            <a:ext cx="34747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650" b="0">
                <a:solidFill>
                  <a:srgbClr val="4B5563"/>
                </a:solidFill>
                <a:latin typeface="Arial"/>
              </a:defRPr>
            </a:pPr>
            <a:r>
              <a:t>Practice questions for DevOps processes, continuous delivery, security, compliance, instrumentation and feedback.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15000" y="3977639"/>
            <a:ext cx="1005840" cy="50292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24728" y="4096512"/>
            <a:ext cx="548640" cy="91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550" b="1">
                <a:solidFill>
                  <a:srgbClr val="4B5563"/>
                </a:solidFill>
                <a:latin typeface="Arial"/>
              </a:defRPr>
            </a:pPr>
            <a:r>
              <a:t>MODE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24728" y="4270248"/>
            <a:ext cx="685800" cy="109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680" b="1">
                <a:solidFill>
                  <a:srgbClr val="111827"/>
                </a:solidFill>
                <a:latin typeface="Arial"/>
              </a:defRPr>
            </a:pPr>
            <a:r>
              <a:t>Practice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24728" y="4462272"/>
            <a:ext cx="713232" cy="32004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858000" y="3977639"/>
            <a:ext cx="1005840" cy="50292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67728" y="4096512"/>
            <a:ext cx="548640" cy="91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550" b="1">
                <a:solidFill>
                  <a:srgbClr val="4B5563"/>
                </a:solidFill>
                <a:latin typeface="Arial"/>
              </a:defRPr>
            </a:pPr>
            <a:r>
              <a:t>FOCUS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67728" y="4270248"/>
            <a:ext cx="685800" cy="109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680" b="1">
                <a:solidFill>
                  <a:srgbClr val="111827"/>
                </a:solidFill>
                <a:latin typeface="Arial"/>
              </a:defRPr>
            </a:pPr>
            <a:r>
              <a:t>AZ-400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67728" y="4462272"/>
            <a:ext cx="713232" cy="3200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001000" y="3977639"/>
            <a:ext cx="1005840" cy="50292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10727" y="4096512"/>
            <a:ext cx="548640" cy="91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550" b="1">
                <a:solidFill>
                  <a:srgbClr val="4B5563"/>
                </a:solidFill>
                <a:latin typeface="Arial"/>
              </a:defRPr>
            </a:pPr>
            <a:r>
              <a:t>ACCESS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10727" y="4270248"/>
            <a:ext cx="685800" cy="109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680" b="1">
                <a:solidFill>
                  <a:srgbClr val="111827"/>
                </a:solidFill>
                <a:latin typeface="Arial"/>
              </a:defRPr>
            </a:pPr>
            <a:r>
              <a:t>Class link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10727" y="4462272"/>
            <a:ext cx="713232" cy="3200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715000" y="4709160"/>
            <a:ext cx="1691640" cy="56692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833872" y="4846320"/>
            <a:ext cx="1005840" cy="109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620" b="1">
                <a:solidFill>
                  <a:srgbClr val="111827"/>
                </a:solidFill>
                <a:latin typeface="Arial"/>
              </a:defRPr>
            </a:pPr>
            <a:r>
              <a:t>Practice mode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33872" y="5029200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520" b="0">
                <a:solidFill>
                  <a:srgbClr val="4B5563"/>
                </a:solidFill>
                <a:latin typeface="Arial"/>
              </a:defRPr>
            </a:pPr>
            <a:r>
              <a:t>Review answers while revising each domain.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35240" y="4709160"/>
            <a:ext cx="1691640" cy="566928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54112" y="4846320"/>
            <a:ext cx="1005840" cy="109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620" b="1">
                <a:solidFill>
                  <a:srgbClr val="111827"/>
                </a:solidFill>
                <a:latin typeface="Arial"/>
              </a:defRPr>
            </a:pPr>
            <a:r>
              <a:t>Timed review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54112" y="5029200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520" b="0">
                <a:solidFill>
                  <a:srgbClr val="4B5563"/>
                </a:solidFill>
                <a:latin typeface="Arial"/>
              </a:defRPr>
            </a:pPr>
            <a:r>
              <a:t>Build confidence before final assessment.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784080" y="3127248"/>
            <a:ext cx="1143000" cy="86868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939528" y="3273552"/>
            <a:ext cx="713232" cy="91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520" b="1">
                <a:solidFill>
                  <a:srgbClr val="4B5563"/>
                </a:solidFill>
                <a:latin typeface="Arial"/>
              </a:defRPr>
            </a:pPr>
            <a:r>
              <a:t>PRACTICE DETAILS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39528" y="3493008"/>
            <a:ext cx="749808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520" b="1">
                <a:solidFill>
                  <a:srgbClr val="111827"/>
                </a:solidFill>
                <a:latin typeface="Arial"/>
              </a:defRPr>
            </a:pPr>
            <a:r>
              <a:t>Exam code      AZ-400</a:t>
            </a:r>
          </a:p>
          <a:p>
            <a:pPr algn="l">
              <a:defRPr sz="520" b="1">
                <a:solidFill>
                  <a:srgbClr val="111827"/>
                </a:solidFill>
                <a:latin typeface="Arial"/>
              </a:defRPr>
            </a:pPr>
            <a:r>
              <a:t>Use            Review</a:t>
            </a:r>
          </a:p>
          <a:p>
            <a:pPr algn="l">
              <a:defRPr sz="520" b="1">
                <a:solidFill>
                  <a:srgbClr val="111827"/>
                </a:solidFill>
                <a:latin typeface="Arial"/>
              </a:defRPr>
            </a:pPr>
            <a:r>
              <a:t>Domains        6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784080" y="4407408"/>
            <a:ext cx="1143000" cy="777240"/>
          </a:xfrm>
          <a:prstGeom prst="roundRect">
            <a:avLst/>
          </a:prstGeom>
          <a:solidFill>
            <a:srgbClr val="E8F0FE"/>
          </a:solidFill>
          <a:ln w="762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39528" y="4590288"/>
            <a:ext cx="658368" cy="91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550" b="1">
                <a:solidFill>
                  <a:srgbClr val="1F6FEB"/>
                </a:solidFill>
                <a:latin typeface="Arial"/>
              </a:defRPr>
            </a:pPr>
            <a:r>
              <a:t>Learner tip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39528" y="4791456"/>
            <a:ext cx="6858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520" b="0">
                <a:solidFill>
                  <a:srgbClr val="4B5563"/>
                </a:solidFill>
                <a:latin typeface="Arial"/>
              </a:defRPr>
            </a:pPr>
            <a:r>
              <a:t>Retake missed items after revision.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1792" y="6419088"/>
            <a:ext cx="4297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4B5563"/>
                </a:solidFill>
              </a:defRPr>
            </a:pPr>
            <a:r>
              <a:t>AZ-400 DevOps Solutions  ·  TGS-2024042605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74920" y="6419088"/>
            <a:ext cx="25603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50">
                <a:solidFill>
                  <a:srgbClr val="4B5563"/>
                </a:solidFill>
              </a:defRPr>
            </a:pPr>
            <a:r>
              <a:t>© 2026 Tertiary Infotech Academy Pte Ltd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384280" y="6419088"/>
            <a:ext cx="411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111827"/>
                </a:solidFill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530352"/>
            <a:ext cx="73152" cy="50292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548640"/>
            <a:ext cx="62179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1200" b="1">
                <a:solidFill>
                  <a:srgbClr val="1F6FEB"/>
                </a:solidFill>
                <a:latin typeface="Arial"/>
              </a:defRPr>
            </a:pPr>
            <a:r>
              <a:t>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850392"/>
            <a:ext cx="80467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defRPr sz="2600" b="1">
                <a:solidFill>
                  <a:srgbClr val="111827"/>
                </a:solidFill>
                <a:latin typeface="Arial"/>
              </a:defRPr>
            </a:pPr>
            <a:r>
              <a:t>Assessment Flow Reminder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786384" y="1481328"/>
            <a:ext cx="10607040" cy="18288"/>
          </a:xfrm>
          <a:prstGeom prst="rect">
            <a:avLst/>
          </a:prstGeom>
          <a:solidFill>
            <a:srgbClr val="D9E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2185416"/>
            <a:ext cx="2011680" cy="1600200"/>
          </a:xfrm>
          <a:prstGeom prst="round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2148840"/>
            <a:ext cx="2011680" cy="160020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22959" y="2313432"/>
            <a:ext cx="438912" cy="43891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98648"/>
            <a:ext cx="155448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111827"/>
                </a:solidFill>
                <a:latin typeface="Arial"/>
              </a:defRPr>
            </a:pPr>
            <a:r>
              <a:t>TRAQOM digital</a:t>
            </a:r>
          </a:p>
          <a:p>
            <a:pPr algn="ctr">
              <a:defRPr sz="1200" b="1">
                <a:solidFill>
                  <a:srgbClr val="111827"/>
                </a:solidFill>
                <a:latin typeface="Arial"/>
              </a:defRPr>
            </a:pPr>
            <a:r>
              <a:t>attendance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70048" y="2953512"/>
            <a:ext cx="16459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 b="1">
                <a:solidFill>
                  <a:srgbClr val="4B5563"/>
                </a:solidFill>
                <a:latin typeface="Arial"/>
              </a:defRPr>
            </a:pPr>
            <a:r>
              <a:t>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62071" y="2185416"/>
            <a:ext cx="2011680" cy="1600200"/>
          </a:xfrm>
          <a:prstGeom prst="round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834639" y="2148840"/>
            <a:ext cx="2011680" cy="160020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999232" y="2313432"/>
            <a:ext cx="438912" cy="43891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39" y="2898648"/>
            <a:ext cx="155448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111827"/>
                </a:solidFill>
                <a:latin typeface="Arial"/>
              </a:defRPr>
            </a:pPr>
            <a:r>
              <a:t>Assessment digital</a:t>
            </a:r>
          </a:p>
          <a:p>
            <a:pPr algn="ctr">
              <a:defRPr sz="1200" b="1">
                <a:solidFill>
                  <a:srgbClr val="111827"/>
                </a:solidFill>
                <a:latin typeface="Arial"/>
              </a:defRPr>
            </a:pPr>
            <a:r>
              <a:t>attendance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953512"/>
            <a:ext cx="16459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 b="1">
                <a:solidFill>
                  <a:srgbClr val="4B5563"/>
                </a:solidFill>
                <a:latin typeface="Arial"/>
              </a:defRPr>
            </a:pPr>
            <a:r>
              <a:t>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38344" y="2185416"/>
            <a:ext cx="2011680" cy="1600200"/>
          </a:xfrm>
          <a:prstGeom prst="round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10912" y="2148840"/>
            <a:ext cx="2011680" cy="160020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175503" y="2313432"/>
            <a:ext cx="438912" cy="43891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9512" y="2898648"/>
            <a:ext cx="155448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111827"/>
                </a:solidFill>
                <a:latin typeface="Arial"/>
              </a:defRPr>
            </a:pPr>
            <a:r>
              <a:t>Sit WA then</a:t>
            </a:r>
          </a:p>
          <a:p>
            <a:pPr algn="ctr">
              <a:defRPr sz="1200" b="1">
                <a:solidFill>
                  <a:srgbClr val="111827"/>
                </a:solidFill>
                <a:latin typeface="Arial"/>
              </a:defRPr>
            </a:pPr>
            <a:r>
              <a:t>Practical Performance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22592" y="2953512"/>
            <a:ext cx="16459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 b="1">
                <a:solidFill>
                  <a:srgbClr val="4B5563"/>
                </a:solidFill>
                <a:latin typeface="Arial"/>
              </a:defRPr>
            </a:pPr>
            <a: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14616" y="2185416"/>
            <a:ext cx="2011680" cy="1600200"/>
          </a:xfrm>
          <a:prstGeom prst="round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187183" y="2148840"/>
            <a:ext cx="2011680" cy="160020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51775" y="2313432"/>
            <a:ext cx="438912" cy="438912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5783" y="2898648"/>
            <a:ext cx="155448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111827"/>
                </a:solidFill>
                <a:latin typeface="Arial"/>
              </a:defRPr>
            </a:pPr>
            <a:r>
              <a:t>Submit evidence on</a:t>
            </a:r>
          </a:p>
          <a:p>
            <a:pPr algn="ctr">
              <a:defRPr sz="1200" b="1">
                <a:solidFill>
                  <a:srgbClr val="111827"/>
                </a:solidFill>
                <a:latin typeface="Arial"/>
              </a:defRPr>
            </a:pPr>
            <a:r>
              <a:t>the LMS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8863" y="2953512"/>
            <a:ext cx="16459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800" b="1">
                <a:solidFill>
                  <a:srgbClr val="4B5563"/>
                </a:solidFill>
                <a:latin typeface="Arial"/>
              </a:defRPr>
            </a:pPr>
            <a:r>
              <a:t>&gt;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390888" y="2185416"/>
            <a:ext cx="2011680" cy="1600200"/>
          </a:xfrm>
          <a:prstGeom prst="roundRect">
            <a:avLst/>
          </a:prstGeom>
          <a:solidFill>
            <a:srgbClr val="D1D5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363456" y="2148840"/>
            <a:ext cx="2011680" cy="1600200"/>
          </a:xfrm>
          <a:prstGeom prst="roundRect">
            <a:avLst/>
          </a:prstGeom>
          <a:solidFill>
            <a:srgbClr val="FFFFFF"/>
          </a:solidFill>
          <a:ln w="762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528048" y="2313432"/>
            <a:ext cx="438912" cy="438912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2056" y="2898648"/>
            <a:ext cx="155448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1">
                <a:solidFill>
                  <a:srgbClr val="111827"/>
                </a:solidFill>
                <a:latin typeface="Arial"/>
              </a:defRPr>
            </a:pPr>
            <a:r>
              <a:t>Sign Assessment</a:t>
            </a:r>
          </a:p>
          <a:p>
            <a:pPr algn="ctr">
              <a:defRPr sz="1200" b="1">
                <a:solidFill>
                  <a:srgbClr val="111827"/>
                </a:solidFill>
                <a:latin typeface="Arial"/>
              </a:defRPr>
            </a:pPr>
            <a:r>
              <a:t>Summary Record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40280" y="4892040"/>
            <a:ext cx="7863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500" b="0">
                <a:solidFill>
                  <a:srgbClr val="4B5563"/>
                </a:solidFill>
                <a:latin typeface="Arial"/>
              </a:defRPr>
            </a:pPr>
            <a:r>
              <a:t>The TRAQOM QR code and LMS submission are both handled through the LMS/TMS portal.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" y="6419088"/>
            <a:ext cx="4297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50">
                <a:solidFill>
                  <a:srgbClr val="4B5563"/>
                </a:solidFill>
              </a:defRPr>
            </a:pPr>
            <a:r>
              <a:t>AZ-400 DevOps Solutions  ·  TGS-2024042605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74920" y="6419088"/>
            <a:ext cx="25603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50">
                <a:solidFill>
                  <a:srgbClr val="4B5563"/>
                </a:solidFill>
              </a:defRPr>
            </a:pPr>
            <a: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84280" y="6419088"/>
            <a:ext cx="411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111827"/>
                </a:solidFill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Azure DevOps Delivery Lifecycle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Plan + Code + Build + Release + Operate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The eight labs build one traceable DevOps solution in sequence.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TOPIC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is about designing delivery systems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t>•  The course focuses on repeatable software delivery, security, governance and feedback.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t>•  Learners practise design tradeoffs, not only tool commands.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</a:p>
          <a:p>
            <a:pPr>
              <a:spcBef>
                <a:spcPts val="0"/>
              </a:spcBef>
              <a:spcAft>
                <a:spcPts val="1000"/>
              </a:spcAft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Core DevOps Capabilities Practised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Boards and traceability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t>IaC, DevSecOps, monitoring and feedback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</a:p>
          <a:p>
            <a:pPr>
              <a:spcBef>
                <a:spcPts val="0"/>
              </a:spcBef>
              <a:spcAft>
                <a:spcPts val="900"/>
              </a:spcAft>
            </a:pP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Repos, branches and pull requests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</a:p>
          <a:p>
            <a:pPr>
              <a:spcBef>
                <a:spcPts val="0"/>
              </a:spcBef>
              <a:spcAft>
                <a:spcPts val="900"/>
              </a:spcAft>
            </a:pPr>
          </a:p>
          <a:p>
            <a:pPr>
              <a:spcBef>
                <a:spcPts val="0"/>
              </a:spcBef>
              <a:spcAft>
                <a:spcPts val="900"/>
              </a:spcAft>
            </a:pP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YAML CI, artifacts and releases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</a:p>
          <a:p>
            <a:pPr>
              <a:spcBef>
                <a:spcPts val="0"/>
              </a:spcBef>
              <a:spcAft>
                <a:spcPts val="900"/>
              </a:spcAft>
            </a:pPr>
          </a:p>
          <a:p>
            <a:pPr>
              <a:spcBef>
                <a:spcPts val="0"/>
              </a:spcBef>
              <a:spcAft>
                <a:spcPts val="900"/>
              </a:spcAft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WHY DEVOPS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DevOps connects work, code and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2976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•  Traceability shows why a change exists, how it was built, where it deployed and what happened after release.</a:t>
            </a:r>
          </a:p>
          <a:p>
            <a:r>
              <a:t>•  This is the thread followed through all labs.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THE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Azure DevOps and GitHub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493776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t>•  Use Azure DevOps or GitHub for work tracking, repositories, pipelines and delivery evidence.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t>•  Use Azure, Bicep and monitoring tools for deployment and operations practice.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</a:p>
        </p:txBody>
      </p:sp>
      <p:sp>
        <p:nvSpPr>
          <p:cNvPr id="8" name="Rectangle 7"/>
          <p:cNvSpPr/>
          <p:nvPr/>
        </p:nvSpPr>
        <p:spPr>
          <a:xfrm>
            <a:off x="5870448" y="1755648"/>
            <a:ext cx="5650992" cy="358444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ite-n8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486400" cy="3429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Why automate delivery?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t>•  Reduce manual release risk.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t>•  Make builds, tests and deployments repeatable.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t>•  Create fast feedback from code, security, telemetry and users.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20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01 - DevOps Processes, Boards, and Traceability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t>LAB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Create a work tracking structure. Link work to code and releases. Define DevOps metrics.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Boards  →  Branch  →  Commit  →  Pull Request  →  Dashboard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Key tools: Azure DevOps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21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01 - DevOps Processes, Boards, and Traceability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STEP 1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Create or open an Azure DevOps project or GitHub repository.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22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01 - DevOps Processes, Boards, and Traceability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•  Work items follow a clear hierarchy.</a:t>
            </a:r>
          </a:p>
          <a:p>
            <a:r>
              <a:t>•  Traceability includes work, code, pipeline, and release evidence.</a:t>
            </a:r>
          </a:p>
          <a:p>
            <a:r>
              <a:t>•  Metrics are defined.</a:t>
            </a:r>
          </a:p>
          <a:p>
            <a:r>
              <a:t>•  Documentation is readable.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23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02 - Source Control, Branching, and Pull Requests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t>LAB 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Choose a branch strategy. Configure pull request workflow. Apply branch protection or policies.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Repository  →  Branch  →  Pull Request  →  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Key tools: Azure DevOps, Git, Repos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24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02 - Source Control, Branching, and Pull Requests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STEP 1 OF 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Create or open a Git repository.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25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02 - Source Control, Branching, and Pull Requests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•  Branch strategy fits the team scenario.</a:t>
            </a:r>
          </a:p>
          <a:p>
            <a:r>
              <a:t>•  Pull request includes review and checks.</a:t>
            </a:r>
          </a:p>
          <a:p>
            <a:r>
              <a:t>•  Tagging convention is documented.</a:t>
            </a:r>
          </a:p>
          <a:p>
            <a:r>
              <a:t>•  Git recovery step is successful.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26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03 - YAML CI Pipelines, Testing, and Artifacts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t>LAB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Create a YAML CI pipeline. Configure triggers. Run tests.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YAML Pipeline  →  Build  →  Test  →  Artifact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Key tools: Azure DevOps, Pipelines, Artifacts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27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03 - YAML CI Pipelines, Testing, and Artifacts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STEP 1 OF 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Use a sample application repository.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28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03 - YAML CI Pipelines, Testing, and Artifacts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•  Pipeline triggers correctly.</a:t>
            </a:r>
          </a:p>
          <a:p>
            <a:r>
              <a:t>•  Tests run.</a:t>
            </a:r>
          </a:p>
          <a:p>
            <a:r>
              <a:t>•  Artifact is published.</a:t>
            </a:r>
          </a:p>
          <a:p>
            <a:r>
              <a:t>•  Failure is documented and fixed.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29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04 - Release Pipelines and Deployment Strategies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t>LAB 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Design release stages. Configure environments and approvals. Compare deployment strategies.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Artifact  →  Environment  →  Approval  →  Deployment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Key tools: Azure DevOps, Pipelines, Artifacts, Environments, Approvals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30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04 - Release Pipelines and Deployment Strategies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STEP 1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Define dev, test, staging, and production environments.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31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04 - Release Pipelines and Deployment Strategies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•  Deployment strategy matches risk and downtime needs.</a:t>
            </a:r>
          </a:p>
          <a:p>
            <a:r>
              <a:t>•  Approval/check evidence is captured.</a:t>
            </a:r>
          </a:p>
          <a:p>
            <a:r>
              <a:t>•  Rollback path is clear.</a:t>
            </a:r>
          </a:p>
          <a:p>
            <a:r>
              <a:t>•  Release notes are generated or drafted.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32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05 - Infrastructure as Code with Bicep and Templates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t>LAB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Define IaC strategy. Create a Bicep or template file. Validate deployment.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Bicep Template  →  Validation  →  Deployment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Key tools: Azure DevOps, Azure CLI, Bicep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33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05 - Infrastructure as Code with Bicep and Templates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STEP 1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Identify infrastructure required by the sample app.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34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05 - Infrastructure as Code with Bicep and Templates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•  Template is parameterized.</a:t>
            </a:r>
          </a:p>
          <a:p>
            <a:r>
              <a:t>•  Tags are included.</a:t>
            </a:r>
          </a:p>
          <a:p>
            <a:r>
              <a:t>•  Validation or deployment evidence is captured.</a:t>
            </a:r>
          </a:p>
          <a:p>
            <a:r>
              <a:t>•  Drift and review controls are documented.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35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06 - DevSecOps, Secrets, and Compliance Scanning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t>LAB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Manage secrets safely. Design secure pipeline authentication. Configure scanning checks.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Secrets  →  Scanning  →  Compliance Gate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Key tools: Azure DevOps, Secrets, Security scanning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36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06 - DevSecOps, Secrets, and Compliance Scanning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STEP 1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Identify secrets used by the sample app or pipeline.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37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06 - DevSecOps, Secrets, and Compliance Scanning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•  No secrets are stored in code.</a:t>
            </a:r>
          </a:p>
          <a:p>
            <a:r>
              <a:t>•  Authentication design follows least privilege.</a:t>
            </a:r>
          </a:p>
          <a:p>
            <a:r>
              <a:t>•  Scanning plan covers code, dependencies, secrets, and containers.</a:t>
            </a:r>
          </a:p>
          <a:p>
            <a:r>
              <a:t>•  Evidence table is audit-friendly.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38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07 - Instrumentation, Monitoring, KQL, and Feedback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t>LAB 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Design monitoring strategy. Review Azure Monitor and Application Insights. Write KQL queries.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Telemetry  →  KQL  →  Dashboard  →  Feedback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Key tools: Azure DevOps, Application Insights, KQL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39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07 - Instrumentation, Monitoring, KQL, and Feedback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STEP 1 OF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Identify telemetry required for the sample application.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40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07 - Instrumentation, Monitoring, KQL, and Feedback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•  Metrics connect to operational decisions.</a:t>
            </a:r>
          </a:p>
          <a:p>
            <a:r>
              <a:t>•  Alerts have clear action.</a:t>
            </a:r>
          </a:p>
          <a:p>
            <a:r>
              <a:t>•  KQL queries are documented.</a:t>
            </a:r>
          </a:p>
          <a:p>
            <a:r>
              <a:t>•  Feedback loop is practical.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41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08 - AZ-400 Capstone: End-to-End DevOps Solution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t>LAB 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106984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Design a complete DevOps solution. Combine work tracking, source control, pipelines, security, and monitoring. Make tradeoff decisions.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Plan  →  Code  →  Build  →  Release  →  Monitor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Key tools: Azure DevOps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42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08 - AZ-400 Capstone: End-to-End DevOps Solution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STEP 1 OF 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91440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Review the trainer-provided scenario.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43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TOPIC · AZURE DEVOPS SOLUTIONS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Lab 08 - AZ-400 Capstone: End-to-End DevOps Solution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•  Solution includes traceability.</a:t>
            </a:r>
          </a:p>
          <a:p>
            <a:r>
              <a:t>•  Pipeline strategy covers build, test, release, and rollback.</a:t>
            </a:r>
          </a:p>
          <a:p>
            <a:r>
              <a:t>•  Security and monitoring are built in.</a:t>
            </a:r>
          </a:p>
          <a:p>
            <a:r>
              <a:t>•  Study plan targets weak domains.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44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48640"/>
            <a:ext cx="128016" cy="6035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Presentation &amp;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t>•  Present the problem, your design, evidence and what you would improve.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t>•  Complete written and practical assessment tasks as instructed.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t>•  Submit evidence through the LMS/TMS portal.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t>•  Remember the assessment digital attendance requirement.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t>AZ-400 DevOps Solutions  ·  TGS-2024042605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t>45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